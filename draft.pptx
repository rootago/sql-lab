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61" r:id="rId4"/>
    <p:sldId id="258" r:id="rId5"/>
    <p:sldId id="259" r:id="rId6"/>
    <p:sldId id="260" r:id="rId7"/>
    <p:sldId id="266" r:id="rId8"/>
    <p:sldId id="267" r:id="rId9"/>
    <p:sldId id="268" r:id="rId10"/>
    <p:sldId id="269" r:id="rId11"/>
    <p:sldId id="262" r:id="rId12"/>
    <p:sldId id="270" r:id="rId13"/>
    <p:sldId id="276" r:id="rId14"/>
    <p:sldId id="271" r:id="rId15"/>
    <p:sldId id="273" r:id="rId16"/>
    <p:sldId id="274" r:id="rId17"/>
    <p:sldId id="277" r:id="rId18"/>
    <p:sldId id="278" r:id="rId19"/>
    <p:sldId id="279" r:id="rId20"/>
    <p:sldId id="275" r:id="rId21"/>
    <p:sldId id="280" r:id="rId22"/>
    <p:sldId id="272" r:id="rId23"/>
    <p:sldId id="293" r:id="rId24"/>
    <p:sldId id="281" r:id="rId25"/>
    <p:sldId id="282" r:id="rId26"/>
    <p:sldId id="284" r:id="rId27"/>
    <p:sldId id="263" r:id="rId28"/>
    <p:sldId id="286" r:id="rId29"/>
    <p:sldId id="285" r:id="rId30"/>
    <p:sldId id="287" r:id="rId31"/>
    <p:sldId id="288" r:id="rId32"/>
    <p:sldId id="289" r:id="rId33"/>
    <p:sldId id="291" r:id="rId34"/>
    <p:sldId id="290" r:id="rId35"/>
    <p:sldId id="264" r:id="rId36"/>
    <p:sldId id="265" r:id="rId37"/>
    <p:sldId id="292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3DFA8-4431-4540-B149-0CEF960D7B79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99937-E2E9-4554-9D36-91EC969F17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9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9937-E2E9-4554-9D36-91EC969F175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051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982D5-C06D-2ACD-05B3-270454B4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EFF459-6C01-E69E-8925-ED3B4D036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F93C18-9C0F-BF99-EEEF-BDFC556FE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7F6242-DD0B-CDDB-35A3-1C40B73FF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9937-E2E9-4554-9D36-91EC969F175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5395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9937-E2E9-4554-9D36-91EC969F175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443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799937-E2E9-4554-9D36-91EC969F175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099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8B49E-28D3-412F-7E75-FC70D2FCC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AE1BF7-147D-46E0-0889-079AD5A62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43F97-7F02-E63D-E486-43D67E90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A487FE-4B0B-8793-34FD-40867C89E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C05188-2984-EFB6-FB6D-5A93FC24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1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EE1A9-E62B-CB6C-3F9D-65FD81D79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B0D5B-1CD3-49B2-5973-BE854F4C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7C9855-92D6-9CF9-1933-426DA3F6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3B2238-B0E4-1543-B38A-8E298C9C3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70B29-8A3B-A34C-377C-F4BE1BE65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8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371945-690C-715B-5586-C0519AE6B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C2323-4B20-02B0-D987-5548C6D53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33826-D4CB-4FE7-0A74-F2909CBE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518B44-57A2-FF2F-025D-65BB2F66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A9C310-D08B-5C71-EE7D-16E88464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77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3CAE7-425C-D1F5-07CC-73C95A16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23D77-C946-1F15-A4B9-06E5AA149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A5DAA8-05AD-CAAA-A653-CDF7A2799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B947CE-C0BB-70E1-2F55-85EA14E8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6620A-2435-EEB9-023D-A64E6641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CB723-93B1-EB8D-6DEC-4344C9E39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629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6AF3A0-0A37-E010-C4E3-D184E94E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D5B434-5233-310B-7274-1F8903E13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921EE0-B671-BABF-65B2-AD320916F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9E91F3-F967-F31B-C15A-795B8446F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1F0277-4828-3690-08AB-048E65DF7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2ACD79-76C7-FC98-BFFC-0EAD5C326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D9C6CE-6340-9532-F245-E10B664AC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72004ED-7575-E8F6-A724-1A84695F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38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FBFAD-FE5A-C422-73BB-26F9F19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7F2CDE-157F-3E3E-02BF-A3F22BDC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4265C7-955D-CBA9-8087-95200CED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803815-895E-2C24-4035-A033C340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36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3AB55D-99BD-6B56-33A8-EABFA68F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5E0BB1-6866-FF7B-E591-197713EE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B30593-ECBD-581B-5E55-A852D4D4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99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BE605D-A368-890E-D6E3-FC890F43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DF84C-F1DC-D955-9979-A7ABA5D30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AE8BE4-9FB0-46BC-C9A6-1AD90851E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C231C5-D1FF-28CA-3F46-1A58644F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7BBB2F-39CB-20EB-9688-85141DFB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C3303C-54B5-9E9E-F0B5-875DFD47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050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66FC0-FFD8-E66E-BC3F-F77DA2C2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66C6E2-F0D3-AA37-637A-044E3A02E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C99AFE-B3E3-3AFC-DFFB-8181FFEA8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66B67-AF2F-45F5-BFF9-F9F8D805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0D5678-0D8B-457D-5DE8-67A14ABF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A4F25F-12B3-45DE-9B62-E269442B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9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20600-0020-C325-C3F5-076B29EA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6B8CFF-C0DA-7A9F-EA9C-E595AF595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00E25F-2293-1226-859E-8200D690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80F42B-E579-40AB-F440-A0CA2356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FBB30-5C92-A583-5847-D7FFD929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52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64E1C4-E291-AE86-6956-7AF08EE7A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89E182-9A05-BAEE-9EE2-156074E79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C16A9-1589-07C0-A765-AF9E8DDF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03BFB-DD4D-85ED-7238-4B68160D2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20E155-E13E-0776-E1A8-ED9ED77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61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2BDD55-012A-D6F9-3CCD-1687ED77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976119-CC8C-B413-51DD-BF465EE89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1697B-DCEB-81A7-EF4B-3B215B7FB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8615D-3F75-413A-9901-FE2DA8A6FF7F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59488-BBDF-9D97-4D06-D4E60C068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BF496-D2DC-4258-96B5-878767A55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7AA60-4AA8-4524-A490-7743EF1B43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4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7D1030-95F4-BF0A-6F13-CF7D5E77D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数据集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5162B5-6C7A-9098-3EDE-CD793BFF99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UIUC+</a:t>
            </a:r>
            <a:r>
              <a:rPr lang="zh-CN" altLang="en-US" dirty="0"/>
              <a:t>异常值生成</a:t>
            </a:r>
          </a:p>
        </p:txBody>
      </p:sp>
    </p:spTree>
    <p:extLst>
      <p:ext uri="{BB962C8B-B14F-4D97-AF65-F5344CB8AC3E}">
        <p14:creationId xmlns:p14="http://schemas.microsoft.com/office/powerpoint/2010/main" val="3113889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FD216-CDE9-AA3A-7212-7A4B18C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UIUC Dataset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553292-5F44-F791-B287-180FDC281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 70 个翼型 .dat 文件，来源标注为 UIUC Airfoil Coordinates Database。每个 .dat 文件对应一个翼型，例如：ag03.dat</a:t>
            </a:r>
            <a:r>
              <a:rPr lang="zh-CN" altLang="en-US" dirty="0"/>
              <a:t>、</a:t>
            </a:r>
            <a:r>
              <a:rPr lang="zh-CN" altLang="zh-CN" dirty="0"/>
              <a:t>naca2412.dat</a:t>
            </a:r>
            <a:r>
              <a:rPr lang="zh-CN" altLang="en-US" dirty="0"/>
              <a:t>、</a:t>
            </a:r>
            <a:r>
              <a:rPr lang="zh-CN" altLang="zh-CN" dirty="0"/>
              <a:t>naca0015.dat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主要记录翼型二维轮廓坐标，也就是归一化弦长坐标下的 (x, y) 点。一般从后缘沿上表面到前缘，再沿下表面回到后缘。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651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95AE4F5-D567-D754-E590-916B0ACFC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A7556B-DE7C-125D-929E-A985B8DA1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处理后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3C78EBD-1863-FFB3-71AE-38BA447F1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314240"/>
              </p:ext>
            </p:extLst>
          </p:nvPr>
        </p:nvGraphicFramePr>
        <p:xfrm>
          <a:off x="997226" y="2022536"/>
          <a:ext cx="10515600" cy="447033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7765">
                  <a:extLst>
                    <a:ext uri="{9D8B030D-6E8A-4147-A177-3AD203B41FA5}">
                      <a16:colId xmlns:a16="http://schemas.microsoft.com/office/drawing/2014/main" val="2967015121"/>
                    </a:ext>
                  </a:extLst>
                </a:gridCol>
                <a:gridCol w="8517835">
                  <a:extLst>
                    <a:ext uri="{9D8B030D-6E8A-4147-A177-3AD203B41FA5}">
                      <a16:colId xmlns:a16="http://schemas.microsoft.com/office/drawing/2014/main" val="4115156681"/>
                    </a:ext>
                  </a:extLst>
                </a:gridCol>
              </a:tblGrid>
              <a:tr h="636104">
                <a:tc>
                  <a:txBody>
                    <a:bodyPr/>
                    <a:lstStyle/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en-US" altLang="zh-CN" sz="20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dirty="0">
                          <a:solidFill>
                            <a:schemeClr val="tx1"/>
                          </a:solidFill>
                          <a:effectLst/>
                        </a:rPr>
                        <a:t>文件</a:t>
                      </a:r>
                    </a:p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en-US" altLang="zh-CN" sz="2000" b="1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en-US" altLang="zh-CN" sz="20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1" dirty="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</a:p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zh-CN" sz="2000" b="1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25137"/>
                  </a:ext>
                </a:extLst>
              </a:tr>
              <a:tr h="516835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effectLst/>
                        </a:rPr>
                        <a:t>airfoils.csv</a:t>
                      </a:r>
                      <a:endParaRPr lang="zh-CN" sz="20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effectLst/>
                        </a:rPr>
                        <a:t>翼型主表，记录翼型编号、名称、来源、原始点数、最终点数等</a:t>
                      </a:r>
                      <a:endParaRPr lang="zh-CN" sz="20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693043"/>
                  </a:ext>
                </a:extLst>
              </a:tr>
              <a:tr h="663480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coordinates.csv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effectLst/>
                        </a:rPr>
                        <a:t>坐标点表，记录每个翼型版本的所有 (x, y) 坐标点</a:t>
                      </a:r>
                      <a:endParaRPr lang="zh-CN" sz="20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376301"/>
                  </a:ext>
                </a:extLst>
              </a:tr>
              <a:tr h="663480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data_versions.csv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数据版本表，记录每个翼型当前版本及是否经过插值增强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392827"/>
                  </a:ext>
                </a:extLst>
              </a:tr>
              <a:tr h="663480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performance.csv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气动性能表，记录不同攻角和雷诺数下的 cl/cd/cm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623116"/>
                  </a:ext>
                </a:extLst>
              </a:tr>
              <a:tr h="663480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anomalies.csv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异常数据表，记录被注入的异常性能数据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82768"/>
                  </a:ext>
                </a:extLst>
              </a:tr>
              <a:tr h="663480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>
                          <a:solidFill>
                            <a:schemeClr val="tx1"/>
                          </a:solidFill>
                          <a:effectLst/>
                        </a:rPr>
                        <a:t>data_sources.csv</a:t>
                      </a:r>
                      <a:endParaRPr lang="zh-CN" sz="20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2000" b="0" dirty="0">
                          <a:solidFill>
                            <a:schemeClr val="tx1"/>
                          </a:solidFill>
                          <a:effectLst/>
                        </a:rPr>
                        <a:t>数据来源说明表</a:t>
                      </a:r>
                      <a:endParaRPr lang="zh-CN" sz="20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057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177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0397B-7219-773F-AB2F-4FBBCD07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处理报告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CA869F-E51D-FC86-7C72-CF81183B0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翼型数量：</a:t>
            </a:r>
            <a:r>
              <a:rPr lang="zh-CN" altLang="zh-CN" b="1" dirty="0"/>
              <a:t>70</a:t>
            </a:r>
            <a:endParaRPr lang="zh-CN" altLang="zh-CN" dirty="0"/>
          </a:p>
          <a:p>
            <a:r>
              <a:rPr lang="zh-CN" altLang="zh-CN" dirty="0"/>
              <a:t>坐标点总数：</a:t>
            </a:r>
            <a:r>
              <a:rPr lang="zh-CN" altLang="zh-CN" b="1" dirty="0"/>
              <a:t>8552</a:t>
            </a:r>
            <a:endParaRPr lang="zh-CN" altLang="zh-CN" dirty="0"/>
          </a:p>
          <a:p>
            <a:r>
              <a:rPr lang="zh-CN" altLang="zh-CN" dirty="0"/>
              <a:t>插值增强坐标点：</a:t>
            </a:r>
            <a:r>
              <a:rPr lang="zh-CN" altLang="zh-CN" b="1" dirty="0"/>
              <a:t>3054</a:t>
            </a:r>
            <a:endParaRPr lang="zh-CN" altLang="zh-CN" dirty="0"/>
          </a:p>
          <a:p>
            <a:r>
              <a:rPr lang="zh-CN" altLang="zh-CN" dirty="0"/>
              <a:t>性能记录数：</a:t>
            </a:r>
            <a:r>
              <a:rPr lang="zh-CN" altLang="zh-CN" b="1" dirty="0"/>
              <a:t>4200</a:t>
            </a:r>
            <a:endParaRPr lang="zh-CN" altLang="zh-CN" dirty="0"/>
          </a:p>
          <a:p>
            <a:r>
              <a:rPr lang="zh-CN" altLang="zh-CN" dirty="0"/>
              <a:t>异常记录数：</a:t>
            </a:r>
            <a:r>
              <a:rPr lang="zh-CN" altLang="zh-CN" b="1" dirty="0"/>
              <a:t>39</a:t>
            </a:r>
            <a:endParaRPr lang="zh-CN" altLang="zh-CN" dirty="0"/>
          </a:p>
          <a:p>
            <a:r>
              <a:rPr lang="zh-CN" altLang="zh-CN" dirty="0"/>
              <a:t>雷诺数范围：50000, 100000, 200000, 500000</a:t>
            </a:r>
          </a:p>
          <a:p>
            <a:r>
              <a:rPr lang="zh-CN" altLang="zh-CN" dirty="0"/>
              <a:t>攻角范围：-10° 到 18°，步长 2°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657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ACA0300-E9CC-BB0E-071C-01236DB4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490"/>
            <a:ext cx="12192000" cy="169023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07333CD-FEF8-9A83-EF7B-0B4C94168050}"/>
              </a:ext>
            </a:extLst>
          </p:cNvPr>
          <p:cNvSpPr txBox="1"/>
          <p:nvPr/>
        </p:nvSpPr>
        <p:spPr>
          <a:xfrm>
            <a:off x="556591" y="1964353"/>
            <a:ext cx="1107881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airfoils.csv </a:t>
            </a:r>
            <a:r>
              <a:rPr lang="zh-CN" altLang="en-US" sz="2400" dirty="0"/>
              <a:t>记录每个翼型的元数据。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airfoil_id</a:t>
            </a:r>
            <a:r>
              <a:rPr lang="zh-CN" altLang="en-US" sz="2400" dirty="0"/>
              <a:t>：翼型唯一编号来自 </a:t>
            </a:r>
            <a:r>
              <a:rPr lang="en-US" altLang="zh-CN" sz="2400" dirty="0"/>
              <a:t>.</a:t>
            </a:r>
            <a:r>
              <a:rPr lang="en-US" altLang="zh-CN" sz="2400" dirty="0" err="1"/>
              <a:t>dat</a:t>
            </a:r>
            <a:r>
              <a:rPr lang="en-US" altLang="zh-CN" sz="2400" dirty="0"/>
              <a:t> </a:t>
            </a:r>
            <a:r>
              <a:rPr lang="zh-CN" altLang="en-US" sz="2400" dirty="0"/>
              <a:t>文件名，如 </a:t>
            </a:r>
            <a:r>
              <a:rPr lang="en-US" altLang="zh-CN" sz="2400" dirty="0"/>
              <a:t>ag03</a:t>
            </a:r>
            <a:r>
              <a:rPr lang="zh-CN" altLang="en-US" sz="2400" dirty="0"/>
              <a:t>、</a:t>
            </a:r>
            <a:r>
              <a:rPr lang="en-US" altLang="zh-CN" sz="2400" dirty="0"/>
              <a:t>naca2412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name</a:t>
            </a:r>
            <a:r>
              <a:rPr lang="zh-CN" altLang="en-US" sz="2400" dirty="0"/>
              <a:t>：翼型名称，来自 </a:t>
            </a:r>
            <a:r>
              <a:rPr lang="en-US" altLang="zh-CN" sz="2400" dirty="0"/>
              <a:t>.</a:t>
            </a:r>
            <a:r>
              <a:rPr lang="en-US" altLang="zh-CN" sz="2400" dirty="0" err="1"/>
              <a:t>dat</a:t>
            </a:r>
            <a:r>
              <a:rPr lang="en-US" altLang="zh-CN" sz="2400" dirty="0"/>
              <a:t> </a:t>
            </a:r>
            <a:r>
              <a:rPr lang="zh-CN" altLang="en-US" sz="2400" dirty="0"/>
              <a:t>文件第一行标题，如 </a:t>
            </a:r>
            <a:r>
              <a:rPr lang="en-US" altLang="zh-CN" sz="2400" dirty="0"/>
              <a:t>AG03 (flat aft bottom)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source</a:t>
            </a:r>
            <a:r>
              <a:rPr lang="zh-CN" altLang="en-US" sz="2400" dirty="0"/>
              <a:t>：</a:t>
            </a:r>
            <a:r>
              <a:rPr lang="en-US" altLang="zh-CN" sz="2400" dirty="0"/>
              <a:t>UIUC Airfoil Coordinates Database</a:t>
            </a:r>
            <a:r>
              <a:rPr lang="zh-CN" altLang="en-US" sz="2400" dirty="0"/>
              <a:t>，表示坐标来源于 </a:t>
            </a:r>
            <a:r>
              <a:rPr lang="en-US" altLang="zh-CN" sz="2400" dirty="0"/>
              <a:t>UIUC </a:t>
            </a:r>
            <a:r>
              <a:rPr lang="zh-CN" altLang="en-US" sz="2400" dirty="0"/>
              <a:t>翼型数据库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family</a:t>
            </a:r>
            <a:r>
              <a:rPr lang="zh-CN" altLang="en-US" sz="2400" dirty="0"/>
              <a:t>：翼型系列或分类。这里统一写成 </a:t>
            </a:r>
            <a:r>
              <a:rPr lang="en-US" altLang="zh-CN" sz="2400" dirty="0"/>
              <a:t>UIUC</a:t>
            </a:r>
            <a:r>
              <a:rPr lang="zh-CN" altLang="en-US" sz="2400" dirty="0"/>
              <a:t>，表示当前数据集都来自 </a:t>
            </a:r>
            <a:r>
              <a:rPr lang="en-US" altLang="zh-CN" sz="2400" dirty="0"/>
              <a:t>UIUC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source_type</a:t>
            </a:r>
            <a:r>
              <a:rPr lang="zh-CN" altLang="en-US" sz="2400" dirty="0"/>
              <a:t>：来源类型。</a:t>
            </a:r>
          </a:p>
          <a:p>
            <a:r>
              <a:rPr lang="en-US" altLang="zh-CN" sz="2400" dirty="0"/>
              <a:t>—— </a:t>
            </a:r>
            <a:r>
              <a:rPr lang="en-US" altLang="zh-CN" sz="2400" dirty="0" err="1"/>
              <a:t>uiuc_raw</a:t>
            </a:r>
            <a:r>
              <a:rPr lang="zh-CN" altLang="en-US" sz="2400" dirty="0"/>
              <a:t>：纯原始坐标</a:t>
            </a:r>
          </a:p>
          <a:p>
            <a:r>
              <a:rPr lang="en-US" altLang="zh-CN" sz="2400" dirty="0"/>
              <a:t>—— </a:t>
            </a:r>
            <a:r>
              <a:rPr lang="en-US" altLang="zh-CN" sz="2400" dirty="0" err="1"/>
              <a:t>uiuc_raw_with_tracked_augmentation</a:t>
            </a:r>
            <a:r>
              <a:rPr lang="zh-CN" altLang="en-US" sz="2400" dirty="0"/>
              <a:t>：原始坐标加可追踪插值点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has_augmented_coordinates</a:t>
            </a:r>
            <a:r>
              <a:rPr lang="zh-CN" altLang="en-US" sz="2400" dirty="0"/>
              <a:t>：是否包含增强坐标点。</a:t>
            </a:r>
            <a:r>
              <a:rPr lang="en-US" altLang="zh-CN" sz="2400" dirty="0"/>
              <a:t>0 </a:t>
            </a:r>
            <a:r>
              <a:rPr lang="zh-CN" altLang="en-US" sz="2400" dirty="0"/>
              <a:t>表示没有插值增强，全部是原始坐标点；</a:t>
            </a:r>
            <a:r>
              <a:rPr lang="en-US" altLang="zh-CN" sz="2400" dirty="0"/>
              <a:t>1 </a:t>
            </a:r>
            <a:r>
              <a:rPr lang="zh-CN" altLang="en-US" sz="2400" dirty="0"/>
              <a:t>表示包含插值补充点。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original_point_count</a:t>
            </a:r>
            <a:r>
              <a:rPr lang="zh-CN" altLang="en-US" sz="2400" dirty="0"/>
              <a:t>：原始点数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final_point_count</a:t>
            </a:r>
            <a:r>
              <a:rPr lang="zh-CN" altLang="en-US" sz="2400" dirty="0"/>
              <a:t>：处理后点数。如果没有增强，通常和 </a:t>
            </a:r>
            <a:r>
              <a:rPr lang="en-US" altLang="zh-CN" sz="2400" dirty="0" err="1"/>
              <a:t>original_point_count</a:t>
            </a:r>
            <a:r>
              <a:rPr lang="en-US" altLang="zh-CN" sz="2400" dirty="0"/>
              <a:t> </a:t>
            </a:r>
            <a:r>
              <a:rPr lang="zh-CN" altLang="en-US" sz="2400" dirty="0"/>
              <a:t>一样；如果做了插值增强，会大于原始点数。</a:t>
            </a:r>
          </a:p>
        </p:txBody>
      </p:sp>
    </p:spTree>
    <p:extLst>
      <p:ext uri="{BB962C8B-B14F-4D97-AF65-F5344CB8AC3E}">
        <p14:creationId xmlns:p14="http://schemas.microsoft.com/office/powerpoint/2010/main" val="486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B4F026C-FD2B-D387-898D-FAD8CA90312E}"/>
              </a:ext>
            </a:extLst>
          </p:cNvPr>
          <p:cNvSpPr txBox="1"/>
          <p:nvPr/>
        </p:nvSpPr>
        <p:spPr>
          <a:xfrm>
            <a:off x="265044" y="2881705"/>
            <a:ext cx="116619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performance.csv</a:t>
            </a:r>
            <a:r>
              <a:rPr lang="zh-CN" altLang="en-US" dirty="0"/>
              <a:t>：“气动性能表”，每一行表示某个翼型在特定攻角和雷诺数下的一组性能数据。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perf_id</a:t>
            </a:r>
            <a:r>
              <a:rPr lang="zh-CN" altLang="en-US" dirty="0"/>
              <a:t>：性能记录编号，可以作为主键。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airfoil_id</a:t>
            </a:r>
            <a:r>
              <a:rPr lang="zh-CN" altLang="en-US" dirty="0"/>
              <a:t>：翼型编号。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version_id</a:t>
            </a:r>
            <a:r>
              <a:rPr lang="zh-CN" altLang="en-US" dirty="0"/>
              <a:t>：使用的翼型几何版本。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alpha_deg</a:t>
            </a:r>
            <a:r>
              <a:rPr lang="zh-CN" altLang="en-US" dirty="0"/>
              <a:t>：攻角，单位是度。例如 </a:t>
            </a:r>
            <a:r>
              <a:rPr lang="en-US" altLang="zh-CN" dirty="0"/>
              <a:t>-10</a:t>
            </a:r>
            <a:r>
              <a:rPr lang="zh-CN" altLang="en-US" dirty="0"/>
              <a:t>、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12</a:t>
            </a:r>
            <a:r>
              <a:rPr lang="zh-CN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reynolds_number</a:t>
            </a:r>
            <a:r>
              <a:rPr lang="zh-CN" altLang="en-US" dirty="0"/>
              <a:t>：雷诺数，表示流动状态。这里有 </a:t>
            </a:r>
            <a:r>
              <a:rPr lang="en-US" altLang="zh-CN" dirty="0"/>
              <a:t>50000</a:t>
            </a:r>
            <a:r>
              <a:rPr lang="zh-CN" altLang="en-US" dirty="0"/>
              <a:t>、</a:t>
            </a:r>
            <a:r>
              <a:rPr lang="en-US" altLang="zh-CN" dirty="0"/>
              <a:t>100000</a:t>
            </a:r>
            <a:r>
              <a:rPr lang="zh-CN" altLang="en-US" dirty="0"/>
              <a:t>、</a:t>
            </a:r>
            <a:r>
              <a:rPr lang="en-US" altLang="zh-CN" dirty="0"/>
              <a:t>200000</a:t>
            </a:r>
            <a:r>
              <a:rPr lang="zh-CN" altLang="en-US" dirty="0"/>
              <a:t>、</a:t>
            </a:r>
            <a:r>
              <a:rPr lang="en-US" altLang="zh-CN" dirty="0"/>
              <a:t>500000</a:t>
            </a:r>
            <a:r>
              <a:rPr lang="zh-CN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cl</a:t>
            </a:r>
            <a:r>
              <a:rPr lang="zh-CN" altLang="en-US" dirty="0"/>
              <a:t>：升力系数，</a:t>
            </a:r>
            <a:r>
              <a:rPr lang="en-US" altLang="zh-CN" dirty="0"/>
              <a:t>Lift Coefficient</a:t>
            </a:r>
            <a:r>
              <a:rPr lang="zh-CN" altLang="en-US" dirty="0"/>
              <a:t>。越大通常表示升力越强。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cd</a:t>
            </a:r>
            <a:r>
              <a:rPr lang="zh-CN" altLang="en-US" dirty="0"/>
              <a:t>：阻力系数，</a:t>
            </a:r>
            <a:r>
              <a:rPr lang="en-US" altLang="zh-CN" dirty="0"/>
              <a:t>Drag Coefficient</a:t>
            </a:r>
            <a:r>
              <a:rPr lang="zh-CN" altLang="en-US" dirty="0"/>
              <a:t>。越小通常表示阻力越低。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cm</a:t>
            </a:r>
            <a:r>
              <a:rPr lang="zh-CN" altLang="en-US" dirty="0"/>
              <a:t>：力矩系数，</a:t>
            </a:r>
            <a:r>
              <a:rPr lang="en-US" altLang="zh-CN" dirty="0"/>
              <a:t>Moment Coefficient</a:t>
            </a:r>
            <a:r>
              <a:rPr lang="zh-CN" altLang="en-US" dirty="0"/>
              <a:t>。表示翼型绕参考点产生的俯仰力矩。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source_type</a:t>
            </a:r>
            <a:r>
              <a:rPr lang="zh-CN" altLang="en-US" dirty="0"/>
              <a:t>：性能数据来源。这里是 </a:t>
            </a:r>
            <a:r>
              <a:rPr lang="en-US" altLang="zh-CN" dirty="0" err="1"/>
              <a:t>generated_synthetic</a:t>
            </a:r>
            <a:r>
              <a:rPr lang="zh-CN" altLang="en-US" dirty="0"/>
              <a:t>，表示课程实验用的合成数据。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is_anomaly</a:t>
            </a:r>
            <a:r>
              <a:rPr lang="zh-CN" altLang="en-US" dirty="0"/>
              <a:t>：是否异常。</a:t>
            </a:r>
            <a:r>
              <a:rPr lang="en-US" altLang="zh-CN" dirty="0"/>
              <a:t>0 </a:t>
            </a:r>
            <a:r>
              <a:rPr lang="zh-CN" altLang="en-US" dirty="0"/>
              <a:t>表示正常，</a:t>
            </a:r>
            <a:r>
              <a:rPr lang="en-US" altLang="zh-CN" dirty="0"/>
              <a:t>1 </a:t>
            </a:r>
            <a:r>
              <a:rPr lang="zh-CN" altLang="en-US" dirty="0"/>
              <a:t>表示被标记为异常。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63F89F-1FE6-B4DE-B57E-BC136ABE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13" y="634738"/>
            <a:ext cx="1039322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044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C5A8A476-BCE4-8E71-A393-2F351A878B55}"/>
              </a:ext>
            </a:extLst>
          </p:cNvPr>
          <p:cNvSpPr txBox="1"/>
          <p:nvPr/>
        </p:nvSpPr>
        <p:spPr>
          <a:xfrm>
            <a:off x="0" y="3306565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data_versions.csv</a:t>
            </a:r>
            <a:r>
              <a:rPr lang="zh-CN" altLang="en-US" sz="2000" dirty="0"/>
              <a:t>：“数据版本表”，用于记录每个翼型坐标数据的版本状态。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version_id</a:t>
            </a:r>
            <a:r>
              <a:rPr lang="zh-CN" altLang="en-US" sz="2000" dirty="0"/>
              <a:t>：版本编号，例如 </a:t>
            </a:r>
            <a:r>
              <a:rPr lang="en-US" altLang="zh-CN" sz="2000" dirty="0"/>
              <a:t>ag03_v1</a:t>
            </a:r>
            <a:r>
              <a:rPr lang="zh-CN" altLang="en-US" sz="2000" dirty="0"/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airfoil_id</a:t>
            </a:r>
            <a:r>
              <a:rPr lang="zh-CN" altLang="en-US" sz="2000" dirty="0"/>
              <a:t>：所属翼型编号。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version_no</a:t>
            </a:r>
            <a:r>
              <a:rPr lang="zh-CN" altLang="en-US" sz="2000" dirty="0"/>
              <a:t>：版本号，目前都是 </a:t>
            </a:r>
            <a:r>
              <a:rPr lang="en-US" altLang="zh-CN" sz="2000" dirty="0"/>
              <a:t>1</a:t>
            </a:r>
            <a:r>
              <a:rPr lang="zh-CN" altLang="en-US" sz="2000" dirty="0"/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version_type</a:t>
            </a:r>
            <a:r>
              <a:rPr lang="zh-CN" altLang="en-US" sz="2000" dirty="0"/>
              <a:t>：版本类型。</a:t>
            </a:r>
            <a:endParaRPr lang="en-US" altLang="zh-CN" sz="2000" dirty="0"/>
          </a:p>
          <a:p>
            <a:r>
              <a:rPr lang="en-US" altLang="zh-CN" sz="2000" dirty="0"/>
              <a:t>—— </a:t>
            </a:r>
            <a:r>
              <a:rPr lang="en-US" altLang="zh-CN" sz="2000" dirty="0" err="1"/>
              <a:t>imported_raw</a:t>
            </a:r>
            <a:r>
              <a:rPr lang="en-US" altLang="zh-CN" sz="2000" dirty="0"/>
              <a:t> </a:t>
            </a:r>
            <a:r>
              <a:rPr lang="zh-CN" altLang="en-US" sz="2000" dirty="0"/>
              <a:t>表示直接导入原始数据，</a:t>
            </a:r>
            <a:r>
              <a:rPr lang="en-US" altLang="zh-CN" sz="2000" dirty="0" err="1"/>
              <a:t>augmented_from_raw</a:t>
            </a:r>
            <a:r>
              <a:rPr lang="en-US" altLang="zh-CN" sz="2000" dirty="0"/>
              <a:t> </a:t>
            </a:r>
            <a:r>
              <a:rPr lang="zh-CN" altLang="en-US" sz="2000" dirty="0"/>
              <a:t>表示由原始数据增强而来。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/>
              <a:t>coordinate_source_type</a:t>
            </a:r>
            <a:r>
              <a:rPr lang="zh-CN" altLang="en-US" sz="2000" dirty="0"/>
              <a:t>：坐标来源类型。</a:t>
            </a:r>
            <a:r>
              <a:rPr lang="en-US" altLang="zh-CN" sz="2000" dirty="0" err="1"/>
              <a:t>real_only</a:t>
            </a:r>
            <a:r>
              <a:rPr lang="en-US" altLang="zh-CN" sz="2000" dirty="0"/>
              <a:t> </a:t>
            </a:r>
            <a:r>
              <a:rPr lang="zh-CN" altLang="en-US" sz="2000" dirty="0"/>
              <a:t>表示全是原始点，</a:t>
            </a:r>
            <a:r>
              <a:rPr lang="en-US" altLang="zh-CN" sz="2000" dirty="0" err="1"/>
              <a:t>mixed_real_and_augmented</a:t>
            </a:r>
            <a:r>
              <a:rPr lang="zh-CN" altLang="en-US" sz="2000" dirty="0"/>
              <a:t>：表示原始点和插值点混合。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description</a:t>
            </a:r>
            <a:r>
              <a:rPr lang="zh-CN" altLang="en-US" sz="2000" dirty="0"/>
              <a:t>：对该版本的文字说明。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95AE9D-4AC3-690D-35A3-38D9BC99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265" y="164878"/>
            <a:ext cx="8549470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65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896050-8237-E676-AC75-906265FCA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465"/>
            <a:ext cx="12192000" cy="165214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46FA7F-BD7A-5D1E-4030-202B02DC30FB}"/>
              </a:ext>
            </a:extLst>
          </p:cNvPr>
          <p:cNvSpPr txBox="1"/>
          <p:nvPr/>
        </p:nvSpPr>
        <p:spPr>
          <a:xfrm>
            <a:off x="304801" y="159026"/>
            <a:ext cx="6732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data_source</a:t>
            </a:r>
            <a:r>
              <a:rPr lang="zh-CN" altLang="en-US" sz="3200" dirty="0"/>
              <a:t>：数据集的来源</a:t>
            </a:r>
          </a:p>
        </p:txBody>
      </p:sp>
    </p:spTree>
    <p:extLst>
      <p:ext uri="{BB962C8B-B14F-4D97-AF65-F5344CB8AC3E}">
        <p14:creationId xmlns:p14="http://schemas.microsoft.com/office/powerpoint/2010/main" val="240568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9E586E-6580-11CC-7D08-190D21021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8462"/>
          <a:stretch>
            <a:fillRect/>
          </a:stretch>
        </p:blipFill>
        <p:spPr>
          <a:xfrm>
            <a:off x="217404" y="0"/>
            <a:ext cx="11974596" cy="9674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D458E5-77D1-EFA8-FE43-6890234FDD7C}"/>
              </a:ext>
            </a:extLst>
          </p:cNvPr>
          <p:cNvSpPr txBox="1"/>
          <p:nvPr/>
        </p:nvSpPr>
        <p:spPr>
          <a:xfrm>
            <a:off x="0" y="1510748"/>
            <a:ext cx="12192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coordinates.csv</a:t>
            </a:r>
            <a:r>
              <a:rPr lang="zh-CN" altLang="en-US" sz="2400" dirty="0"/>
              <a:t>：这是“翼型坐标点表”，每一行代表某个翼型轮廓上的一个坐标点。</a:t>
            </a:r>
          </a:p>
          <a:p>
            <a:r>
              <a:rPr lang="en-US" altLang="zh-CN" sz="2400" dirty="0" err="1"/>
              <a:t>airfoil_id</a:t>
            </a:r>
            <a:r>
              <a:rPr lang="zh-CN" altLang="en-US" sz="2400" dirty="0"/>
              <a:t>：翼型编号，对应 </a:t>
            </a:r>
            <a:r>
              <a:rPr lang="en-US" altLang="zh-CN" sz="2400" dirty="0"/>
              <a:t>airfoils.csv </a:t>
            </a:r>
            <a:r>
              <a:rPr lang="zh-CN" altLang="en-US" sz="2400" dirty="0"/>
              <a:t>里的 </a:t>
            </a:r>
            <a:r>
              <a:rPr lang="en-US" altLang="zh-CN" sz="2400" dirty="0" err="1"/>
              <a:t>airfoil_id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 err="1"/>
              <a:t>version_id</a:t>
            </a:r>
            <a:r>
              <a:rPr lang="zh-CN" altLang="en-US" sz="2400" dirty="0"/>
              <a:t>：翼型版本编号，对应 </a:t>
            </a:r>
            <a:r>
              <a:rPr lang="en-US" altLang="zh-CN" sz="2400" dirty="0"/>
              <a:t>data_versions.csv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 err="1"/>
              <a:t>point_order</a:t>
            </a:r>
            <a:r>
              <a:rPr lang="zh-CN" altLang="en-US" sz="2400" dirty="0"/>
              <a:t>：坐标点顺序。通常从后缘开始，沿上表面到前缘，再沿下表面回到后缘。</a:t>
            </a:r>
          </a:p>
          <a:p>
            <a:r>
              <a:rPr lang="en-US" altLang="zh-CN" sz="2400" dirty="0"/>
              <a:t>x</a:t>
            </a:r>
            <a:r>
              <a:rPr lang="zh-CN" altLang="en-US" sz="2400" dirty="0"/>
              <a:t>：归一化弦长方向坐标。一般前缘接近 </a:t>
            </a:r>
            <a:r>
              <a:rPr lang="en-US" altLang="zh-CN" sz="2400" dirty="0"/>
              <a:t>0</a:t>
            </a:r>
            <a:r>
              <a:rPr lang="zh-CN" altLang="en-US" sz="2400" dirty="0"/>
              <a:t>，后缘接近 </a:t>
            </a:r>
            <a:r>
              <a:rPr lang="en-US" altLang="zh-CN" sz="2400" dirty="0"/>
              <a:t>1</a:t>
            </a:r>
            <a:r>
              <a:rPr lang="zh-CN" altLang="en-US" sz="2400" dirty="0"/>
              <a:t>。</a:t>
            </a:r>
          </a:p>
          <a:p>
            <a:r>
              <a:rPr lang="en-US" altLang="zh-CN" sz="2400" dirty="0"/>
              <a:t>y</a:t>
            </a:r>
            <a:r>
              <a:rPr lang="zh-CN" altLang="en-US" sz="2400" dirty="0"/>
              <a:t>：厚度方向坐标。上表面通常为正，下表面通常为负。</a:t>
            </a:r>
          </a:p>
          <a:p>
            <a:r>
              <a:rPr lang="en-US" altLang="zh-CN" sz="2400" dirty="0"/>
              <a:t>surface</a:t>
            </a:r>
            <a:r>
              <a:rPr lang="zh-CN" altLang="en-US" sz="2400" dirty="0"/>
              <a:t>：点所在表面，</a:t>
            </a:r>
            <a:r>
              <a:rPr lang="en-US" altLang="zh-CN" sz="2400" dirty="0"/>
              <a:t>upper </a:t>
            </a:r>
            <a:r>
              <a:rPr lang="zh-CN" altLang="en-US" sz="2400" dirty="0"/>
              <a:t>表示上表面，</a:t>
            </a:r>
            <a:r>
              <a:rPr lang="en-US" altLang="zh-CN" sz="2400" dirty="0"/>
              <a:t>lower </a:t>
            </a:r>
            <a:r>
              <a:rPr lang="zh-CN" altLang="en-US" sz="2400" dirty="0"/>
              <a:t>表示下表面。</a:t>
            </a:r>
          </a:p>
          <a:p>
            <a:r>
              <a:rPr lang="en-US" altLang="zh-CN" sz="2400" dirty="0" err="1"/>
              <a:t>point_source</a:t>
            </a:r>
            <a:r>
              <a:rPr lang="zh-CN" altLang="en-US" sz="2400" dirty="0"/>
              <a:t>：点来源，</a:t>
            </a:r>
            <a:r>
              <a:rPr lang="en-US" altLang="zh-CN" sz="2400" dirty="0"/>
              <a:t>real </a:t>
            </a:r>
            <a:r>
              <a:rPr lang="zh-CN" altLang="en-US" sz="2400" dirty="0"/>
              <a:t>表示原始坐标点，</a:t>
            </a:r>
            <a:r>
              <a:rPr lang="en-US" altLang="zh-CN" sz="2400" dirty="0"/>
              <a:t>augmented </a:t>
            </a:r>
            <a:r>
              <a:rPr lang="zh-CN" altLang="en-US" sz="2400" dirty="0"/>
              <a:t>表示插值补充点。</a:t>
            </a:r>
          </a:p>
          <a:p>
            <a:r>
              <a:rPr lang="en-US" altLang="zh-CN" sz="2400" dirty="0" err="1"/>
              <a:t>is_augmented</a:t>
            </a:r>
            <a:r>
              <a:rPr lang="zh-CN" altLang="en-US" sz="2400" dirty="0"/>
              <a:t>：是否为增强点。</a:t>
            </a:r>
            <a:r>
              <a:rPr lang="en-US" altLang="zh-CN" sz="2400" dirty="0"/>
              <a:t>0 </a:t>
            </a:r>
            <a:r>
              <a:rPr lang="zh-CN" altLang="en-US" sz="2400" dirty="0"/>
              <a:t>表示原始点，</a:t>
            </a:r>
            <a:r>
              <a:rPr lang="en-US" altLang="zh-CN" sz="2400" dirty="0"/>
              <a:t>1 </a:t>
            </a:r>
            <a:r>
              <a:rPr lang="zh-CN" altLang="en-US" sz="2400" dirty="0"/>
              <a:t>表示插值点。</a:t>
            </a:r>
          </a:p>
          <a:p>
            <a:r>
              <a:rPr lang="en-US" altLang="zh-CN" sz="2400" dirty="0" err="1"/>
              <a:t>original_order</a:t>
            </a:r>
            <a:r>
              <a:rPr lang="zh-CN" altLang="en-US" sz="2400" dirty="0"/>
              <a:t>：如果是原始点，这里记录它在原 </a:t>
            </a:r>
            <a:r>
              <a:rPr lang="en-US" altLang="zh-CN" sz="2400" dirty="0"/>
              <a:t>.</a:t>
            </a:r>
            <a:r>
              <a:rPr lang="en-US" altLang="zh-CN" sz="2400" dirty="0" err="1"/>
              <a:t>dat</a:t>
            </a:r>
            <a:r>
              <a:rPr lang="en-US" altLang="zh-CN" sz="2400" dirty="0"/>
              <a:t> </a:t>
            </a:r>
            <a:r>
              <a:rPr lang="zh-CN" altLang="en-US" sz="2400" dirty="0"/>
              <a:t>文件中的顺序；如果是插值点，通常为空。</a:t>
            </a:r>
          </a:p>
          <a:p>
            <a:r>
              <a:rPr lang="en-US" altLang="zh-CN" sz="2400" dirty="0" err="1"/>
              <a:t>augmentation_method</a:t>
            </a:r>
            <a:r>
              <a:rPr lang="zh-CN" altLang="en-US" sz="2400" dirty="0"/>
              <a:t>：坐标生成方式。原始点是 </a:t>
            </a:r>
            <a:r>
              <a:rPr lang="en-US" altLang="zh-CN" sz="2400" dirty="0" err="1"/>
              <a:t>original_coordinate</a:t>
            </a:r>
            <a:r>
              <a:rPr lang="zh-CN" altLang="en-US" sz="2400" dirty="0"/>
              <a:t>，插值点通常是 </a:t>
            </a:r>
            <a:r>
              <a:rPr lang="en-US" altLang="zh-CN" sz="2400" dirty="0" err="1">
                <a:highlight>
                  <a:srgbClr val="FFFF00"/>
                </a:highlight>
              </a:rPr>
              <a:t>linear</a:t>
            </a:r>
            <a:r>
              <a:rPr lang="en-US" altLang="zh-CN" sz="2400" dirty="0" err="1"/>
              <a:t>_interpolation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34457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7CF6CFE-17BA-7A57-212B-F1DFE8A9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14" y="0"/>
            <a:ext cx="10012172" cy="182905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69C62EE-93EB-F15D-15EA-D949A91CE021}"/>
              </a:ext>
            </a:extLst>
          </p:cNvPr>
          <p:cNvSpPr txBox="1"/>
          <p:nvPr/>
        </p:nvSpPr>
        <p:spPr>
          <a:xfrm>
            <a:off x="219544" y="2213672"/>
            <a:ext cx="93065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anomalies.csv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anomaly_id</a:t>
            </a:r>
            <a:r>
              <a:rPr lang="zh-CN" altLang="en-US" sz="2400" dirty="0"/>
              <a:t>：异常记录编号。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perf_id</a:t>
            </a:r>
            <a:r>
              <a:rPr lang="zh-CN" altLang="en-US" sz="2400" dirty="0"/>
              <a:t>：对应的性能记录编号</a:t>
            </a:r>
            <a:endParaRPr lang="en-US" altLang="zh-CN" sz="2400" dirty="0"/>
          </a:p>
          <a:p>
            <a:r>
              <a:rPr lang="en-US" altLang="zh-CN" sz="2400" dirty="0"/>
              <a:t>(</a:t>
            </a:r>
            <a:r>
              <a:rPr lang="zh-CN" altLang="en-US" sz="2400" dirty="0"/>
              <a:t>关联 </a:t>
            </a:r>
            <a:r>
              <a:rPr lang="en-US" altLang="zh-CN" sz="2400" dirty="0"/>
              <a:t>performance.csv </a:t>
            </a:r>
            <a:r>
              <a:rPr lang="zh-CN" altLang="en-US" sz="2400" dirty="0"/>
              <a:t>的 </a:t>
            </a:r>
            <a:r>
              <a:rPr lang="en-US" altLang="zh-CN" sz="2400" dirty="0" err="1"/>
              <a:t>perf_id</a:t>
            </a:r>
            <a:r>
              <a:rPr lang="zh-CN" altLang="en-US" sz="2400" dirty="0"/>
              <a:t>。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airfoil_id</a:t>
            </a:r>
            <a:r>
              <a:rPr lang="zh-CN" altLang="en-US" sz="2400" dirty="0"/>
              <a:t>：异常数据所属翼型。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version_id</a:t>
            </a:r>
            <a:r>
              <a:rPr lang="zh-CN" altLang="en-US" sz="2400" dirty="0"/>
              <a:t>：异常数据对应的翼型版本。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 err="1"/>
              <a:t>rule_type</a:t>
            </a:r>
            <a:r>
              <a:rPr lang="zh-CN" altLang="en-US" sz="2400" dirty="0"/>
              <a:t>：异常类型。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detail</a:t>
            </a:r>
            <a:r>
              <a:rPr lang="zh-CN" altLang="en-US" sz="2400" dirty="0"/>
              <a:t>：异常说明。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31E24C1-A7E2-3017-5BAC-81819570E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26490"/>
              </p:ext>
            </p:extLst>
          </p:nvPr>
        </p:nvGraphicFramePr>
        <p:xfrm>
          <a:off x="5876456" y="2748848"/>
          <a:ext cx="6196274" cy="288143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68557">
                  <a:extLst>
                    <a:ext uri="{9D8B030D-6E8A-4147-A177-3AD203B41FA5}">
                      <a16:colId xmlns:a16="http://schemas.microsoft.com/office/drawing/2014/main" val="4156654525"/>
                    </a:ext>
                  </a:extLst>
                </a:gridCol>
                <a:gridCol w="4327717">
                  <a:extLst>
                    <a:ext uri="{9D8B030D-6E8A-4147-A177-3AD203B41FA5}">
                      <a16:colId xmlns:a16="http://schemas.microsoft.com/office/drawing/2014/main" val="938118081"/>
                    </a:ext>
                  </a:extLst>
                </a:gridCol>
              </a:tblGrid>
              <a:tr h="452894">
                <a:tc>
                  <a:txBody>
                    <a:bodyPr/>
                    <a:lstStyle/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effectLst/>
                        </a:rPr>
                        <a:t>异常类型</a:t>
                      </a:r>
                    </a:p>
                  </a:txBody>
                  <a:tcPr marR="18288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endParaRPr lang="en-US" altLang="zh-CN" sz="1800" b="1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l" fontAlgn="t" latinLnBrk="0">
                        <a:lnSpc>
                          <a:spcPts val="1200"/>
                        </a:lnSpc>
                        <a:buNone/>
                      </a:pPr>
                      <a:r>
                        <a:rPr lang="zh-CN" sz="1800" b="1" dirty="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</a:p>
                  </a:txBody>
                  <a:tcPr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245029"/>
                  </a:ext>
                </a:extLst>
              </a:tr>
              <a:tr h="554795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effectLst/>
                        </a:rPr>
                        <a:t>negative_cd</a:t>
                      </a: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effectLst/>
                        </a:rPr>
                        <a:t>阻力系数为负，这在物理上通常不合理。</a:t>
                      </a: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325398"/>
                  </a:ext>
                </a:extLst>
              </a:tr>
              <a:tr h="554795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</a:rPr>
                        <a:t>extreme_cl</a:t>
                      </a:r>
                    </a:p>
                  </a:txBody>
                  <a:tcPr marR="18288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effectLst/>
                        </a:rPr>
                        <a:t>升力系数异常偏大。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升力系数 cl 被人为放大到正常模型计算值的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约 4 倍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，表现为升力系数远超同一攻角、同一雷诺数下的合理范围。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026270"/>
                  </a:ext>
                </a:extLst>
              </a:tr>
              <a:tr h="713308"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>
                          <a:solidFill>
                            <a:schemeClr val="tx1"/>
                          </a:solidFill>
                          <a:effectLst/>
                        </a:rPr>
                        <a:t>extreme_ld_ratio</a:t>
                      </a:r>
                    </a:p>
                  </a:txBody>
                  <a:tcPr marR="182880" marT="76200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lnSpc>
                          <a:spcPts val="1575"/>
                        </a:lnSpc>
                        <a:buNone/>
                      </a:pPr>
                      <a:r>
                        <a:rPr lang="zh-CN" sz="1800" dirty="0">
                          <a:solidFill>
                            <a:schemeClr val="tx1"/>
                          </a:solidFill>
                          <a:effectLst/>
                        </a:rPr>
                        <a:t>升阻比异常偏大。升阻比一般可理解为 cl / cd。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该异常通过将 cd 压低到原值的约 5% 产生，使得升阻比远高于正常记录。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T="76200" marB="1828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649421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1B79639-CA1D-8514-8004-59A4DC52D3CA}"/>
              </a:ext>
            </a:extLst>
          </p:cNvPr>
          <p:cNvSpPr txBox="1"/>
          <p:nvPr/>
        </p:nvSpPr>
        <p:spPr>
          <a:xfrm>
            <a:off x="5876456" y="2272025"/>
            <a:ext cx="6096000" cy="301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575"/>
              </a:lnSpc>
              <a:buNone/>
            </a:pPr>
            <a:r>
              <a:rPr lang="zh-CN" altLang="zh-CN" sz="1800" b="0" i="0" dirty="0">
                <a:effectLst/>
                <a:latin typeface="Segoe WPC"/>
              </a:rPr>
              <a:t>常见 </a:t>
            </a:r>
            <a:r>
              <a:rPr lang="zh-CN" altLang="zh-CN" sz="1800" b="0" i="0" dirty="0">
                <a:effectLst/>
                <a:latin typeface="Consolas" panose="020B0609020204030204" pitchFamily="49" charset="0"/>
              </a:rPr>
              <a:t>rule_type</a:t>
            </a:r>
            <a:r>
              <a:rPr lang="zh-CN" altLang="zh-CN" sz="1800" b="0" i="0" dirty="0">
                <a:effectLst/>
                <a:latin typeface="Segoe WPC"/>
              </a:rPr>
              <a:t> 有：</a:t>
            </a:r>
          </a:p>
        </p:txBody>
      </p:sp>
    </p:spTree>
    <p:extLst>
      <p:ext uri="{BB962C8B-B14F-4D97-AF65-F5344CB8AC3E}">
        <p14:creationId xmlns:p14="http://schemas.microsoft.com/office/powerpoint/2010/main" val="1694770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B912-F035-027B-8104-E23F278C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5AABC-2B33-7F66-BCAD-BA9D4CA0B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139" y="1122363"/>
            <a:ext cx="10482470" cy="2387600"/>
          </a:xfrm>
        </p:spPr>
        <p:txBody>
          <a:bodyPr/>
          <a:lstStyle/>
          <a:p>
            <a:r>
              <a:rPr lang="en-US" altLang="zh-CN" dirty="0"/>
              <a:t>E-R Model and Normalization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299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7D5F-0015-4BC6-00C4-FA1FAB7A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763A9-51D2-B0EE-B7A9-7AD542E6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 err="1"/>
              <a:t>DataSource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C1110B-A13F-FB9D-367D-E6340EEA106F}"/>
              </a:ext>
            </a:extLst>
          </p:cNvPr>
          <p:cNvSpPr txBox="1"/>
          <p:nvPr/>
        </p:nvSpPr>
        <p:spPr>
          <a:xfrm>
            <a:off x="347870" y="1225689"/>
            <a:ext cx="751067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2400" dirty="0"/>
              <a:t>DataSource(source_type, description)</a:t>
            </a:r>
          </a:p>
          <a:p>
            <a:endParaRPr lang="fr-FR" altLang="zh-CN" sz="2400" dirty="0"/>
          </a:p>
          <a:p>
            <a:r>
              <a:rPr lang="fr-FR" altLang="zh-CN" sz="2400" dirty="0"/>
              <a:t>PK: source_type</a:t>
            </a:r>
          </a:p>
          <a:p>
            <a:endParaRPr lang="fr-FR" altLang="zh-CN" sz="2400" dirty="0"/>
          </a:p>
          <a:p>
            <a:r>
              <a:rPr lang="en-US" altLang="zh-CN" sz="2400" dirty="0"/>
              <a:t>NOT NULL: </a:t>
            </a:r>
            <a:r>
              <a:rPr lang="en-US" altLang="zh-CN" sz="2400" dirty="0" err="1"/>
              <a:t>source_type</a:t>
            </a:r>
            <a:r>
              <a:rPr lang="en-US" altLang="zh-CN" sz="2400" dirty="0"/>
              <a:t>, description</a:t>
            </a:r>
          </a:p>
          <a:p>
            <a:r>
              <a:rPr lang="en-US" altLang="zh-CN" sz="2400" dirty="0"/>
              <a:t>UNIQUE: </a:t>
            </a:r>
            <a:r>
              <a:rPr lang="en-US" altLang="zh-CN" sz="2400" dirty="0" err="1"/>
              <a:t>source_type</a:t>
            </a:r>
            <a:endParaRPr lang="en-US" altLang="zh-CN" sz="2400" dirty="0"/>
          </a:p>
          <a:p>
            <a:r>
              <a:rPr lang="en-US" altLang="zh-CN" sz="2400" dirty="0"/>
              <a:t>CHECK:</a:t>
            </a:r>
          </a:p>
          <a:p>
            <a:r>
              <a:rPr lang="en-US" altLang="zh-CN" sz="2400" dirty="0" err="1"/>
              <a:t>source_type</a:t>
            </a:r>
            <a:r>
              <a:rPr lang="en-US" altLang="zh-CN" sz="2400" dirty="0"/>
              <a:t> IN (</a:t>
            </a:r>
          </a:p>
          <a:p>
            <a:r>
              <a:rPr lang="en-US" altLang="zh-CN" sz="2400" dirty="0"/>
              <a:t>  '</a:t>
            </a:r>
            <a:r>
              <a:rPr lang="en-US" altLang="zh-CN" sz="2400" dirty="0" err="1"/>
              <a:t>uiuc_raw</a:t>
            </a:r>
            <a:r>
              <a:rPr lang="en-US" altLang="zh-CN" sz="2400" dirty="0"/>
              <a:t>',</a:t>
            </a:r>
          </a:p>
          <a:p>
            <a:r>
              <a:rPr lang="en-US" altLang="zh-CN" sz="2400" dirty="0"/>
              <a:t>  '</a:t>
            </a:r>
            <a:r>
              <a:rPr lang="en-US" altLang="zh-CN" sz="2400" dirty="0" err="1"/>
              <a:t>uiuc_raw_with_tracked_augmentation</a:t>
            </a:r>
            <a:r>
              <a:rPr lang="en-US" altLang="zh-CN" sz="2400" dirty="0"/>
              <a:t>',</a:t>
            </a:r>
          </a:p>
          <a:p>
            <a:r>
              <a:rPr lang="en-US" altLang="zh-CN" sz="2400" dirty="0"/>
              <a:t>  '</a:t>
            </a:r>
            <a:r>
              <a:rPr lang="en-US" altLang="zh-CN" sz="2400" dirty="0" err="1"/>
              <a:t>generated_synthetic</a:t>
            </a:r>
            <a:r>
              <a:rPr lang="en-US" altLang="zh-CN" sz="2400" dirty="0"/>
              <a:t>',</a:t>
            </a:r>
          </a:p>
          <a:p>
            <a:r>
              <a:rPr lang="en-US" altLang="zh-CN" sz="2400" dirty="0"/>
              <a:t>  '</a:t>
            </a:r>
            <a:r>
              <a:rPr lang="en-US" altLang="zh-CN" sz="2400" dirty="0" err="1"/>
              <a:t>injected_anomaly</a:t>
            </a:r>
            <a:r>
              <a:rPr lang="en-US" altLang="zh-CN" sz="2400" dirty="0"/>
              <a:t>'</a:t>
            </a:r>
          </a:p>
          <a:p>
            <a:r>
              <a:rPr lang="en-US" altLang="zh-C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9256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A6C6A-E651-654C-39EC-E0150741E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/>
              <a:t>Airfoil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FB3E44-4C89-86EF-C52B-0D407733DE64}"/>
              </a:ext>
            </a:extLst>
          </p:cNvPr>
          <p:cNvSpPr txBox="1"/>
          <p:nvPr/>
        </p:nvSpPr>
        <p:spPr>
          <a:xfrm>
            <a:off x="228600" y="1166123"/>
            <a:ext cx="107309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Airfoils(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source_type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name, </a:t>
            </a:r>
          </a:p>
          <a:p>
            <a:r>
              <a:rPr lang="en-US" altLang="zh-CN" sz="2400" dirty="0"/>
              <a:t>	source,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source_file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err="1"/>
              <a:t>has_augmented_coordinates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is_generated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       	</a:t>
            </a:r>
            <a:r>
              <a:rPr lang="en-US" altLang="zh-CN" sz="2400" dirty="0" err="1"/>
              <a:t>original_point_count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final_point_count</a:t>
            </a:r>
            <a:endParaRPr lang="en-US" altLang="zh-CN" sz="2400" dirty="0"/>
          </a:p>
          <a:p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</a:t>
            </a:r>
            <a:r>
              <a:rPr lang="en-US" altLang="zh-CN" sz="2400" dirty="0" err="1"/>
              <a:t>airfoil_id</a:t>
            </a:r>
            <a:endParaRPr lang="en-US" altLang="zh-CN" sz="2400" dirty="0"/>
          </a:p>
          <a:p>
            <a:r>
              <a:rPr lang="en-US" altLang="zh-CN" sz="2400" dirty="0"/>
              <a:t>FK: </a:t>
            </a:r>
            <a:r>
              <a:rPr lang="en-US" altLang="zh-CN" sz="2400" dirty="0" err="1"/>
              <a:t>source_type</a:t>
            </a:r>
            <a:r>
              <a:rPr lang="en-US" altLang="zh-CN" sz="2400" dirty="0"/>
              <a:t> -&gt; </a:t>
            </a:r>
            <a:r>
              <a:rPr lang="en-US" altLang="zh-CN" sz="2400" dirty="0" err="1"/>
              <a:t>DataSource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source_type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E121D34-419D-9F82-F217-405696FF2193}"/>
              </a:ext>
            </a:extLst>
          </p:cNvPr>
          <p:cNvSpPr txBox="1"/>
          <p:nvPr/>
        </p:nvSpPr>
        <p:spPr>
          <a:xfrm>
            <a:off x="6082748" y="1098136"/>
            <a:ext cx="610925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NOT NULL:</a:t>
            </a:r>
          </a:p>
          <a:p>
            <a:r>
              <a:rPr lang="zh-CN" altLang="en-US" sz="2400" dirty="0"/>
              <a:t>airfoil_id, name, source, family, is_generated, source_type,</a:t>
            </a:r>
          </a:p>
          <a:p>
            <a:r>
              <a:rPr lang="zh-CN" altLang="en-US" sz="2400" dirty="0"/>
              <a:t>source_file, has_augmented_coordinates,</a:t>
            </a:r>
          </a:p>
          <a:p>
            <a:r>
              <a:rPr lang="zh-CN" altLang="en-US" sz="2400" dirty="0"/>
              <a:t>original_point_count, final_point_count</a:t>
            </a:r>
          </a:p>
          <a:p>
            <a:endParaRPr lang="zh-CN" altLang="en-US" sz="2400" dirty="0"/>
          </a:p>
          <a:p>
            <a:r>
              <a:rPr lang="zh-CN" altLang="en-US" sz="2400" dirty="0"/>
              <a:t>UNIQUE:</a:t>
            </a:r>
          </a:p>
          <a:p>
            <a:r>
              <a:rPr lang="zh-CN" altLang="en-US" sz="2400" dirty="0"/>
              <a:t>airfoil_id, source_file</a:t>
            </a:r>
          </a:p>
          <a:p>
            <a:endParaRPr lang="zh-CN" altLang="en-US" sz="2400" dirty="0"/>
          </a:p>
          <a:p>
            <a:r>
              <a:rPr lang="zh-CN" altLang="en-US" sz="2400" dirty="0"/>
              <a:t>CHECK:</a:t>
            </a:r>
          </a:p>
          <a:p>
            <a:r>
              <a:rPr lang="zh-CN" altLang="en-US" sz="2400" dirty="0"/>
              <a:t>is_generated IN (0, 1)</a:t>
            </a:r>
          </a:p>
          <a:p>
            <a:r>
              <a:rPr lang="zh-CN" altLang="en-US" sz="2400" dirty="0"/>
              <a:t>has_augmented_coordinates IN (0, 1)</a:t>
            </a:r>
          </a:p>
          <a:p>
            <a:r>
              <a:rPr lang="zh-CN" altLang="en-US" sz="2400" dirty="0"/>
              <a:t>original_point_count &gt; 0</a:t>
            </a:r>
          </a:p>
          <a:p>
            <a:r>
              <a:rPr lang="zh-CN" altLang="en-US" sz="2400" dirty="0"/>
              <a:t>final_point_count &gt; 0</a:t>
            </a:r>
          </a:p>
          <a:p>
            <a:r>
              <a:rPr lang="zh-CN" altLang="en-US" sz="2400" dirty="0"/>
              <a:t>final_point_count &gt;= original_point_count</a:t>
            </a:r>
          </a:p>
        </p:txBody>
      </p:sp>
    </p:spTree>
    <p:extLst>
      <p:ext uri="{BB962C8B-B14F-4D97-AF65-F5344CB8AC3E}">
        <p14:creationId xmlns:p14="http://schemas.microsoft.com/office/powerpoint/2010/main" val="424469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58558-F58C-AC43-0F3B-FFF9C6E5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DA404-A8B1-6E15-109C-4643F58F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 err="1"/>
              <a:t>DataVersion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6C4004-0FF2-621D-5BB7-C3BAAF472841}"/>
              </a:ext>
            </a:extLst>
          </p:cNvPr>
          <p:cNvSpPr txBox="1"/>
          <p:nvPr/>
        </p:nvSpPr>
        <p:spPr>
          <a:xfrm>
            <a:off x="149087" y="1420651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DataVersion</a:t>
            </a:r>
            <a:r>
              <a:rPr lang="en-US" altLang="zh-CN" sz="2400" dirty="0"/>
              <a:t>(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version_type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err="1"/>
              <a:t>coordinate_source_type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description</a:t>
            </a:r>
          </a:p>
          <a:p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FK: 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 -&gt; Airfoils(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4039AA-89DF-9F29-A252-62FD07B97701}"/>
              </a:ext>
            </a:extLst>
          </p:cNvPr>
          <p:cNvSpPr txBox="1"/>
          <p:nvPr/>
        </p:nvSpPr>
        <p:spPr>
          <a:xfrm>
            <a:off x="5392004" y="866653"/>
            <a:ext cx="657139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NOT NULL:</a:t>
            </a:r>
          </a:p>
          <a:p>
            <a:r>
              <a:rPr lang="zh-CN" altLang="en-US" sz="2400" dirty="0"/>
              <a:t>airfoil_id, version_id, version_type, coordinate_source_type</a:t>
            </a:r>
          </a:p>
          <a:p>
            <a:endParaRPr lang="zh-CN" altLang="en-US" sz="2400" dirty="0"/>
          </a:p>
          <a:p>
            <a:r>
              <a:rPr lang="zh-CN" altLang="en-US" sz="2400" dirty="0"/>
              <a:t>UNIQUE:</a:t>
            </a:r>
          </a:p>
          <a:p>
            <a:r>
              <a:rPr lang="zh-CN" altLang="en-US" sz="2400" dirty="0"/>
              <a:t>(airfoil_id, version_id)</a:t>
            </a:r>
          </a:p>
          <a:p>
            <a:endParaRPr lang="zh-CN" altLang="en-US" sz="2400" dirty="0"/>
          </a:p>
          <a:p>
            <a:r>
              <a:rPr lang="zh-CN" altLang="en-US" sz="2400" dirty="0"/>
              <a:t>CHECK:</a:t>
            </a:r>
          </a:p>
          <a:p>
            <a:r>
              <a:rPr lang="zh-CN" altLang="en-US" sz="2400" dirty="0"/>
              <a:t>version_id &gt;= 1</a:t>
            </a:r>
          </a:p>
          <a:p>
            <a:r>
              <a:rPr lang="zh-CN" altLang="en-US" sz="2400" dirty="0"/>
              <a:t>version_type IN ('imported_raw', 'augmented_from_raw')</a:t>
            </a:r>
          </a:p>
          <a:p>
            <a:r>
              <a:rPr lang="zh-CN" altLang="en-US" sz="2400" dirty="0"/>
              <a:t>coordinate_source_type IN ('real_only', 'mixed_real_and_augmented')</a:t>
            </a:r>
          </a:p>
        </p:txBody>
      </p:sp>
    </p:spTree>
    <p:extLst>
      <p:ext uri="{BB962C8B-B14F-4D97-AF65-F5344CB8AC3E}">
        <p14:creationId xmlns:p14="http://schemas.microsoft.com/office/powerpoint/2010/main" val="3730737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86A3-2740-5431-6A0C-494693FB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FCEBE-00A9-04DF-78D8-DA7ED5D5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 err="1"/>
              <a:t>CoordinatePoint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0464B0-7B31-ED78-431D-48F073F0A5B7}"/>
              </a:ext>
            </a:extLst>
          </p:cNvPr>
          <p:cNvSpPr txBox="1"/>
          <p:nvPr/>
        </p:nvSpPr>
        <p:spPr>
          <a:xfrm>
            <a:off x="347869" y="1225689"/>
            <a:ext cx="85973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CoordinatePoint</a:t>
            </a:r>
            <a:r>
              <a:rPr lang="en-US" altLang="zh-CN" sz="2400" dirty="0"/>
              <a:t>(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point_order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x,</a:t>
            </a:r>
          </a:p>
          <a:p>
            <a:r>
              <a:rPr lang="en-US" altLang="zh-CN" sz="2400" dirty="0"/>
              <a:t>  y,</a:t>
            </a:r>
          </a:p>
          <a:p>
            <a:r>
              <a:rPr lang="en-US" altLang="zh-CN" sz="2400" dirty="0"/>
              <a:t>  surface,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point_source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is_augmented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original_order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</a:t>
            </a:r>
            <a:r>
              <a:rPr lang="en-US" altLang="zh-CN" sz="2400" dirty="0" err="1"/>
              <a:t>augmentation_method</a:t>
            </a:r>
            <a:endParaRPr lang="en-US" altLang="zh-CN" sz="2400" dirty="0"/>
          </a:p>
          <a:p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PK: 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point_order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FK: 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 -&gt; </a:t>
            </a:r>
            <a:r>
              <a:rPr lang="en-US" altLang="zh-CN" sz="2400" dirty="0" err="1"/>
              <a:t>DataVersion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88BF11-4E4E-21A2-9B52-D92B9C72D1DF}"/>
              </a:ext>
            </a:extLst>
          </p:cNvPr>
          <p:cNvSpPr txBox="1"/>
          <p:nvPr/>
        </p:nvSpPr>
        <p:spPr>
          <a:xfrm>
            <a:off x="4310268" y="369332"/>
            <a:ext cx="926989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NOT NULL:</a:t>
            </a:r>
          </a:p>
          <a:p>
            <a:r>
              <a:rPr lang="zh-CN" altLang="en-US" sz="2000" dirty="0"/>
              <a:t>airfoil_id, version_id, point_order, x, y, surface,point_source, is_augmented, augmentation_method</a:t>
            </a:r>
          </a:p>
          <a:p>
            <a:endParaRPr lang="zh-CN" altLang="en-US" sz="2000" dirty="0"/>
          </a:p>
          <a:p>
            <a:r>
              <a:rPr lang="zh-CN" altLang="en-US" sz="2000" dirty="0"/>
              <a:t>UNIQUE:</a:t>
            </a:r>
          </a:p>
          <a:p>
            <a:r>
              <a:rPr lang="zh-CN" altLang="en-US" sz="2000" dirty="0"/>
              <a:t>(airfoil_id, version_id, point_order)</a:t>
            </a:r>
          </a:p>
          <a:p>
            <a:endParaRPr lang="zh-CN" altLang="en-US" sz="2000" dirty="0"/>
          </a:p>
          <a:p>
            <a:r>
              <a:rPr lang="zh-CN" altLang="en-US" sz="2000" dirty="0"/>
              <a:t>CHECK:</a:t>
            </a:r>
          </a:p>
          <a:p>
            <a:r>
              <a:rPr lang="zh-CN" altLang="en-US" sz="2000" dirty="0"/>
              <a:t>version_id &gt;= 1</a:t>
            </a:r>
          </a:p>
          <a:p>
            <a:r>
              <a:rPr lang="zh-CN" altLang="en-US" sz="2000" dirty="0"/>
              <a:t>point_order &gt;= 1</a:t>
            </a:r>
          </a:p>
          <a:p>
            <a:r>
              <a:rPr lang="zh-CN" altLang="en-US" sz="2000" dirty="0"/>
              <a:t>x &gt;= 0 AND x &lt;= 1</a:t>
            </a:r>
          </a:p>
          <a:p>
            <a:r>
              <a:rPr lang="zh-CN" altLang="en-US" sz="2000" dirty="0"/>
              <a:t>surface IN ('upper', 'lower')</a:t>
            </a:r>
          </a:p>
          <a:p>
            <a:r>
              <a:rPr lang="zh-CN" altLang="en-US" sz="2000" dirty="0"/>
              <a:t>point_source IN ('real', 'augmented')</a:t>
            </a:r>
          </a:p>
          <a:p>
            <a:r>
              <a:rPr lang="zh-CN" altLang="en-US" sz="2000" dirty="0"/>
              <a:t>is_augmented IN (0, 1)</a:t>
            </a:r>
          </a:p>
          <a:p>
            <a:r>
              <a:rPr lang="zh-CN" altLang="en-US" sz="2000" dirty="0"/>
              <a:t>augmentation_method IN ('original_coordinate', 'linear_interpolation')</a:t>
            </a:r>
          </a:p>
        </p:txBody>
      </p:sp>
    </p:spTree>
    <p:extLst>
      <p:ext uri="{BB962C8B-B14F-4D97-AF65-F5344CB8AC3E}">
        <p14:creationId xmlns:p14="http://schemas.microsoft.com/office/powerpoint/2010/main" val="1542410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80A06-F458-E6FC-5926-8CD6A57AE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4CD9F-508E-9E13-B360-1A3451C90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 err="1"/>
              <a:t>PerformanceRecord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971BCE-E742-010D-9677-4F6F1CDCAF7B}"/>
              </a:ext>
            </a:extLst>
          </p:cNvPr>
          <p:cNvSpPr txBox="1"/>
          <p:nvPr/>
        </p:nvSpPr>
        <p:spPr>
          <a:xfrm>
            <a:off x="347869" y="1225689"/>
            <a:ext cx="859734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PerformanceRecord</a:t>
            </a:r>
            <a:r>
              <a:rPr lang="en-US" altLang="zh-CN" sz="2400" dirty="0"/>
              <a:t>(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perf_id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alpha_deg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            </a:t>
            </a:r>
            <a:r>
              <a:rPr lang="en-US" altLang="zh-CN" sz="2400" dirty="0" err="1"/>
              <a:t>reynolds_number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cl, </a:t>
            </a:r>
          </a:p>
          <a:p>
            <a:r>
              <a:rPr lang="en-US" altLang="zh-CN" sz="2400" dirty="0"/>
              <a:t>	cd, </a:t>
            </a:r>
          </a:p>
          <a:p>
            <a:r>
              <a:rPr lang="en-US" altLang="zh-CN" sz="2400" dirty="0"/>
              <a:t>	cm,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perf_source_type</a:t>
            </a:r>
            <a:endParaRPr lang="en-US" altLang="zh-CN" sz="2400" dirty="0"/>
          </a:p>
          <a:p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</a:t>
            </a:r>
            <a:r>
              <a:rPr lang="en-US" altLang="zh-CN" sz="2400" dirty="0" err="1"/>
              <a:t>perf_id</a:t>
            </a:r>
            <a:endParaRPr lang="en-US" altLang="zh-CN" sz="2400" dirty="0"/>
          </a:p>
          <a:p>
            <a:r>
              <a:rPr lang="en-US" altLang="zh-CN" sz="2400" dirty="0"/>
              <a:t>FK: 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) -&gt; </a:t>
            </a:r>
            <a:r>
              <a:rPr lang="en-US" altLang="zh-CN" sz="2400" dirty="0" err="1"/>
              <a:t>DataVersion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airfoil_id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version_id</a:t>
            </a:r>
            <a:r>
              <a:rPr lang="en-US" altLang="zh-CN" sz="2400" dirty="0"/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F7EA8C-7B67-80A4-0390-7D0B6F978BD4}"/>
              </a:ext>
            </a:extLst>
          </p:cNvPr>
          <p:cNvSpPr txBox="1"/>
          <p:nvPr/>
        </p:nvSpPr>
        <p:spPr>
          <a:xfrm>
            <a:off x="5734879" y="1225689"/>
            <a:ext cx="61092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NOT NULL:</a:t>
            </a:r>
          </a:p>
          <a:p>
            <a:r>
              <a:rPr lang="zh-CN" altLang="en-US" dirty="0"/>
              <a:t>perf_id, airfoil_id, version_id, alpha_deg,</a:t>
            </a:r>
          </a:p>
          <a:p>
            <a:r>
              <a:rPr lang="zh-CN" altLang="en-US" dirty="0"/>
              <a:t>reynolds_number, cl, cd, cm, source_type, is_anomaly</a:t>
            </a:r>
          </a:p>
          <a:p>
            <a:endParaRPr lang="zh-CN" altLang="en-US" dirty="0"/>
          </a:p>
          <a:p>
            <a:r>
              <a:rPr lang="zh-CN" altLang="en-US" dirty="0"/>
              <a:t>UNIQUE:</a:t>
            </a:r>
          </a:p>
          <a:p>
            <a:r>
              <a:rPr lang="zh-CN" altLang="en-US" dirty="0"/>
              <a:t>perf_id</a:t>
            </a:r>
          </a:p>
          <a:p>
            <a:r>
              <a:rPr lang="zh-CN" altLang="en-US" dirty="0"/>
              <a:t>(airfoil_id, version_id, alpha_deg, reynolds_number)</a:t>
            </a:r>
          </a:p>
          <a:p>
            <a:endParaRPr lang="zh-CN" altLang="en-US" dirty="0"/>
          </a:p>
          <a:p>
            <a:r>
              <a:rPr lang="zh-CN" altLang="en-US" dirty="0"/>
              <a:t>CHECK:</a:t>
            </a:r>
          </a:p>
          <a:p>
            <a:r>
              <a:rPr lang="zh-CN" altLang="en-US" dirty="0"/>
              <a:t>version_id &gt;= 1</a:t>
            </a:r>
          </a:p>
          <a:p>
            <a:r>
              <a:rPr lang="zh-CN" altLang="en-US" dirty="0"/>
              <a:t>alpha_deg &gt;= -20 AND alpha_deg &lt;= 25</a:t>
            </a:r>
          </a:p>
          <a:p>
            <a:r>
              <a:rPr lang="zh-CN" altLang="en-US" dirty="0"/>
              <a:t>reynolds_number &gt; 0</a:t>
            </a:r>
          </a:p>
          <a:p>
            <a:r>
              <a:rPr lang="zh-CN" altLang="en-US" dirty="0"/>
              <a:t>source_type IN ('generated_synthetic')</a:t>
            </a:r>
          </a:p>
          <a:p>
            <a:r>
              <a:rPr lang="zh-CN" altLang="en-US" dirty="0"/>
              <a:t>is_anomaly IN (0, 1)</a:t>
            </a:r>
          </a:p>
        </p:txBody>
      </p:sp>
    </p:spTree>
    <p:extLst>
      <p:ext uri="{BB962C8B-B14F-4D97-AF65-F5344CB8AC3E}">
        <p14:creationId xmlns:p14="http://schemas.microsoft.com/office/powerpoint/2010/main" val="1567872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EF5BD-E20E-582D-9FC3-980F315C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27BB8-F32E-F355-B465-7DC74437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 err="1"/>
              <a:t>AnomalyRecord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F30B84-D20F-C4D2-BD2A-43DC41D27DAA}"/>
              </a:ext>
            </a:extLst>
          </p:cNvPr>
          <p:cNvSpPr txBox="1"/>
          <p:nvPr/>
        </p:nvSpPr>
        <p:spPr>
          <a:xfrm>
            <a:off x="347869" y="1225689"/>
            <a:ext cx="859734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AnomalyRecord</a:t>
            </a:r>
            <a:r>
              <a:rPr lang="en-US" altLang="zh-CN" sz="2400" dirty="0"/>
              <a:t>(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anomaly_id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perf_id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</a:t>
            </a:r>
            <a:r>
              <a:rPr lang="en-US" altLang="zh-CN" sz="2400" dirty="0" err="1"/>
              <a:t>rule_type</a:t>
            </a:r>
            <a:r>
              <a:rPr lang="en-US" altLang="zh-CN" sz="2400" dirty="0"/>
              <a:t>, </a:t>
            </a:r>
          </a:p>
          <a:p>
            <a:r>
              <a:rPr lang="en-US" altLang="zh-CN" sz="2400" dirty="0"/>
              <a:t>	details</a:t>
            </a:r>
          </a:p>
          <a:p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</a:t>
            </a:r>
            <a:r>
              <a:rPr lang="en-US" altLang="zh-CN" sz="2400" dirty="0" err="1"/>
              <a:t>anomaly_id</a:t>
            </a:r>
            <a:endParaRPr lang="en-US" altLang="zh-CN" sz="2400" dirty="0"/>
          </a:p>
          <a:p>
            <a:r>
              <a:rPr lang="en-US" altLang="zh-CN" sz="2400" dirty="0"/>
              <a:t>FK: </a:t>
            </a:r>
            <a:r>
              <a:rPr lang="en-US" altLang="zh-CN" sz="2400" dirty="0" err="1"/>
              <a:t>perf_id</a:t>
            </a:r>
            <a:r>
              <a:rPr lang="en-US" altLang="zh-CN" sz="2400" dirty="0"/>
              <a:t> -&gt; </a:t>
            </a:r>
            <a:r>
              <a:rPr lang="en-US" altLang="zh-CN" sz="2400" dirty="0" err="1"/>
              <a:t>PerformanceRecord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perf_id</a:t>
            </a:r>
            <a:r>
              <a:rPr lang="en-US" altLang="zh-CN" sz="2400" dirty="0"/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4F7222-BE18-244B-C915-0BCDDCFA982A}"/>
              </a:ext>
            </a:extLst>
          </p:cNvPr>
          <p:cNvSpPr txBox="1"/>
          <p:nvPr/>
        </p:nvSpPr>
        <p:spPr>
          <a:xfrm>
            <a:off x="6291469" y="1041023"/>
            <a:ext cx="61092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NOT NULL:</a:t>
            </a:r>
          </a:p>
          <a:p>
            <a:r>
              <a:rPr lang="zh-CN" altLang="en-US" sz="2000" dirty="0"/>
              <a:t>anomaly_id, perf_id, airfoil_id, version_id, rule_type, detail</a:t>
            </a:r>
          </a:p>
          <a:p>
            <a:endParaRPr lang="zh-CN" altLang="en-US" sz="2000" dirty="0"/>
          </a:p>
          <a:p>
            <a:r>
              <a:rPr lang="zh-CN" altLang="en-US" sz="2000" dirty="0"/>
              <a:t>UNIQUE:</a:t>
            </a:r>
          </a:p>
          <a:p>
            <a:r>
              <a:rPr lang="zh-CN" altLang="en-US" sz="2000" dirty="0"/>
              <a:t>anomaly_id</a:t>
            </a:r>
          </a:p>
          <a:p>
            <a:r>
              <a:rPr lang="zh-CN" altLang="en-US" sz="2000" dirty="0"/>
              <a:t>perf_id</a:t>
            </a:r>
          </a:p>
          <a:p>
            <a:endParaRPr lang="zh-CN" altLang="en-US" sz="2000" dirty="0"/>
          </a:p>
          <a:p>
            <a:r>
              <a:rPr lang="zh-CN" altLang="en-US" sz="2000" dirty="0"/>
              <a:t>CHECK:</a:t>
            </a:r>
          </a:p>
          <a:p>
            <a:r>
              <a:rPr lang="zh-CN" altLang="en-US" sz="2000" dirty="0"/>
              <a:t>version_id &gt;= 1</a:t>
            </a:r>
          </a:p>
          <a:p>
            <a:r>
              <a:rPr lang="zh-CN" altLang="en-US" sz="2000" dirty="0"/>
              <a:t>rule_type IN ('negative_cd', 'extreme_cl', 'extreme_ld_ratio')</a:t>
            </a:r>
          </a:p>
        </p:txBody>
      </p:sp>
    </p:spTree>
    <p:extLst>
      <p:ext uri="{BB962C8B-B14F-4D97-AF65-F5344CB8AC3E}">
        <p14:creationId xmlns:p14="http://schemas.microsoft.com/office/powerpoint/2010/main" val="180770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E65E3-31E8-61DC-9E4E-E9A4DF16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B0DE1-CFAA-965C-F490-331AE7A5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95088"/>
            <a:ext cx="10515600" cy="1325563"/>
          </a:xfrm>
        </p:spPr>
        <p:txBody>
          <a:bodyPr/>
          <a:lstStyle/>
          <a:p>
            <a:r>
              <a:rPr lang="en-US" altLang="zh-CN" dirty="0"/>
              <a:t>User &amp; </a:t>
            </a:r>
            <a:r>
              <a:rPr lang="en-US" altLang="zh-CN" dirty="0" err="1"/>
              <a:t>QueryLog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457D2C-5EA4-A44D-AAF5-6BC5A48677CA}"/>
              </a:ext>
            </a:extLst>
          </p:cNvPr>
          <p:cNvSpPr txBox="1"/>
          <p:nvPr/>
        </p:nvSpPr>
        <p:spPr>
          <a:xfrm>
            <a:off x="347869" y="1225689"/>
            <a:ext cx="85973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User(</a:t>
            </a:r>
            <a:r>
              <a:rPr lang="en-US" altLang="zh-CN" sz="2400" dirty="0" err="1"/>
              <a:t>user_id,username,role</a:t>
            </a:r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</a:t>
            </a:r>
            <a:r>
              <a:rPr lang="en-US" altLang="zh-CN" sz="2400" dirty="0" err="1"/>
              <a:t>user_id</a:t>
            </a:r>
            <a:endParaRPr lang="en-US" altLang="zh-CN" sz="2400" dirty="0"/>
          </a:p>
          <a:p>
            <a:r>
              <a:rPr lang="en-US" altLang="zh-CN" sz="2400" dirty="0"/>
              <a:t>NOT NULL: </a:t>
            </a:r>
            <a:r>
              <a:rPr lang="en-US" altLang="zh-CN" sz="2400" dirty="0" err="1"/>
              <a:t>username,role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 err="1"/>
              <a:t>QueryLog</a:t>
            </a:r>
            <a:r>
              <a:rPr lang="en-US" altLang="zh-CN" sz="2400" dirty="0"/>
              <a:t>(</a:t>
            </a:r>
            <a:r>
              <a:rPr lang="en-US" altLang="zh-CN" sz="2400" dirty="0" err="1"/>
              <a:t>log_id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user_id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sql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is_valid</a:t>
            </a:r>
            <a:r>
              <a:rPr lang="en-US" altLang="zh-CN" sz="2400" dirty="0"/>
              <a:t>)</a:t>
            </a:r>
          </a:p>
          <a:p>
            <a:endParaRPr lang="en-US" altLang="zh-CN" sz="2400" dirty="0"/>
          </a:p>
          <a:p>
            <a:r>
              <a:rPr lang="en-US" altLang="zh-CN" sz="2400" dirty="0"/>
              <a:t>PK: </a:t>
            </a:r>
            <a:r>
              <a:rPr lang="en-US" altLang="zh-CN" sz="2400" dirty="0" err="1"/>
              <a:t>log_id</a:t>
            </a:r>
            <a:endParaRPr lang="en-US" altLang="zh-CN" sz="2400" dirty="0"/>
          </a:p>
          <a:p>
            <a:r>
              <a:rPr lang="en-US" altLang="zh-CN" sz="2400" dirty="0"/>
              <a:t>FK: </a:t>
            </a:r>
            <a:r>
              <a:rPr lang="en-US" altLang="zh-CN" sz="2400" dirty="0" err="1"/>
              <a:t>user_id</a:t>
            </a:r>
            <a:r>
              <a:rPr lang="en-US" altLang="zh-CN" sz="2400" dirty="0"/>
              <a:t>-&gt;User(</a:t>
            </a:r>
            <a:r>
              <a:rPr lang="en-US" altLang="zh-CN" sz="2400" dirty="0" err="1"/>
              <a:t>user_id</a:t>
            </a:r>
            <a:r>
              <a:rPr lang="en-US" altLang="zh-CN" sz="2400" dirty="0"/>
              <a:t>)</a:t>
            </a:r>
          </a:p>
          <a:p>
            <a:r>
              <a:rPr lang="en-US" altLang="zh-CN" sz="2400" dirty="0"/>
              <a:t>NOT NULL: </a:t>
            </a:r>
            <a:r>
              <a:rPr lang="en-US" altLang="zh-CN" sz="2400" dirty="0" err="1"/>
              <a:t>sql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is_valid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400823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1053F-CD4A-2668-1020-99455562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云部署</a:t>
            </a:r>
            <a:r>
              <a:rPr lang="en-US" altLang="zh-CN" dirty="0"/>
              <a:t>——</a:t>
            </a:r>
            <a:r>
              <a:rPr lang="zh-CN" altLang="en-US" dirty="0"/>
              <a:t>数据导入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AD2EB6-884F-6805-9C8D-4281D46C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export MYSQL_PASSWORD='cpl20060831'</a:t>
            </a:r>
          </a:p>
          <a:p>
            <a:r>
              <a:rPr lang="en-US" altLang="zh-CN" dirty="0"/>
              <a:t>export ADMIN_USERNAME='admin'</a:t>
            </a:r>
          </a:p>
          <a:p>
            <a:r>
              <a:rPr lang="en-US" altLang="zh-CN" dirty="0"/>
              <a:t>export ADMIN_PASSWORD='admin123456'</a:t>
            </a:r>
          </a:p>
          <a:p>
            <a:r>
              <a:rPr lang="en-US" altLang="zh-CN" dirty="0"/>
              <a:t>export ADMIN_ROLE='admin'</a:t>
            </a:r>
          </a:p>
          <a:p>
            <a:endParaRPr lang="en-US" altLang="zh-CN" dirty="0"/>
          </a:p>
          <a:p>
            <a:r>
              <a:rPr lang="en-US" altLang="zh-CN" dirty="0"/>
              <a:t>python backend/import_mysql.py --user root --database </a:t>
            </a:r>
            <a:r>
              <a:rPr lang="en-US" altLang="zh-CN" dirty="0" err="1"/>
              <a:t>airfoil_engineering_db</a:t>
            </a:r>
            <a:r>
              <a:rPr lang="en-US" altLang="zh-CN" dirty="0"/>
              <a:t> --reset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1584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63A08-35CE-DF7E-1353-6F3B7579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网页启动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B6BD08-66A6-C746-C979-181EA0E9A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7252"/>
            <a:ext cx="10515600" cy="5320748"/>
          </a:xfrm>
        </p:spPr>
        <p:txBody>
          <a:bodyPr>
            <a:normAutofit/>
          </a:bodyPr>
          <a:lstStyle/>
          <a:p>
            <a:r>
              <a:rPr lang="en-US" altLang="zh-CN" dirty="0"/>
              <a:t>export MYSQL_HOST='127.0.0.1'</a:t>
            </a:r>
          </a:p>
          <a:p>
            <a:r>
              <a:rPr lang="en-US" altLang="zh-CN" dirty="0"/>
              <a:t>export MYSQL_USER='root'</a:t>
            </a:r>
          </a:p>
          <a:p>
            <a:r>
              <a:rPr lang="en-US" altLang="zh-CN" dirty="0"/>
              <a:t>export MYSQL_PASSWORD='cpl20060831'</a:t>
            </a:r>
          </a:p>
          <a:p>
            <a:r>
              <a:rPr lang="en-US" altLang="zh-CN" dirty="0"/>
              <a:t>export MYSQL_DATABASE='</a:t>
            </a:r>
            <a:r>
              <a:rPr lang="en-US" altLang="zh-CN" dirty="0" err="1"/>
              <a:t>airfoil_engineering_db</a:t>
            </a:r>
            <a:r>
              <a:rPr lang="en-US" altLang="zh-CN" dirty="0"/>
              <a:t>'</a:t>
            </a:r>
          </a:p>
          <a:p>
            <a:r>
              <a:rPr lang="en-US" altLang="zh-CN" dirty="0"/>
              <a:t>export FLASK_HOST='0.0.0.0'</a:t>
            </a:r>
          </a:p>
          <a:p>
            <a:r>
              <a:rPr lang="en-US" altLang="zh-CN" dirty="0"/>
              <a:t>export FLASK_PORT='8765'</a:t>
            </a:r>
          </a:p>
          <a:p>
            <a:r>
              <a:rPr lang="en-US" altLang="zh-CN" dirty="0"/>
              <a:t>export FLASK_DEBUG='0'</a:t>
            </a:r>
          </a:p>
          <a:p>
            <a:endParaRPr lang="en-US" altLang="zh-CN" dirty="0"/>
          </a:p>
          <a:p>
            <a:r>
              <a:rPr lang="en-US" altLang="zh-CN" dirty="0"/>
              <a:t>python backend/app.py </a:t>
            </a:r>
          </a:p>
          <a:p>
            <a:r>
              <a:rPr lang="en-US" altLang="zh-CN" dirty="0" err="1"/>
              <a:t>nohup</a:t>
            </a:r>
            <a:r>
              <a:rPr lang="en-US" altLang="zh-CN" dirty="0"/>
              <a:t> python backend/app.py &gt; app.log 2&gt;&amp;1 &amp;  【</a:t>
            </a:r>
            <a:r>
              <a:rPr lang="zh-CN" altLang="en-US" dirty="0"/>
              <a:t>后台运行</a:t>
            </a:r>
            <a:r>
              <a:rPr lang="en-US" altLang="zh-CN" dirty="0"/>
              <a:t>】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6958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E68A367-85DC-4269-9402-E1438DC3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2871709"/>
            <a:ext cx="7078063" cy="11145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C4F92DF-FC1A-C492-04A2-9905733AF8CF}"/>
              </a:ext>
            </a:extLst>
          </p:cNvPr>
          <p:cNvSpPr txBox="1"/>
          <p:nvPr/>
        </p:nvSpPr>
        <p:spPr>
          <a:xfrm>
            <a:off x="1378225" y="1800289"/>
            <a:ext cx="5539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通过端口查询</a:t>
            </a:r>
            <a:r>
              <a:rPr lang="en-US" altLang="zh-CN" sz="3200" dirty="0" err="1"/>
              <a:t>pid</a:t>
            </a:r>
            <a:r>
              <a:rPr lang="zh-CN" altLang="en-US" sz="3200" dirty="0"/>
              <a:t>来关闭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E33CC5-020C-1524-3D38-434E85C2CA70}"/>
              </a:ext>
            </a:extLst>
          </p:cNvPr>
          <p:cNvSpPr txBox="1"/>
          <p:nvPr/>
        </p:nvSpPr>
        <p:spPr>
          <a:xfrm>
            <a:off x="1378225" y="4871428"/>
            <a:ext cx="7214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也可以：pkill -f "python.*backend/app.py"</a:t>
            </a:r>
          </a:p>
        </p:txBody>
      </p:sp>
    </p:spTree>
    <p:extLst>
      <p:ext uri="{BB962C8B-B14F-4D97-AF65-F5344CB8AC3E}">
        <p14:creationId xmlns:p14="http://schemas.microsoft.com/office/powerpoint/2010/main" val="4246803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14776F2-F12E-0BD6-54E2-2EAAFF8A5D58}"/>
              </a:ext>
            </a:extLst>
          </p:cNvPr>
          <p:cNvSpPr txBox="1"/>
          <p:nvPr/>
        </p:nvSpPr>
        <p:spPr>
          <a:xfrm>
            <a:off x="0" y="0"/>
            <a:ext cx="12192000" cy="6568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server_env.example.sh</a:t>
            </a:r>
            <a:r>
              <a:rPr lang="zh-CN" altLang="zh-CN" sz="2000" b="0" i="0" dirty="0">
                <a:effectLst/>
                <a:latin typeface="Segoe WPC"/>
              </a:rPr>
              <a:t> 里面集中写了所有 export：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export MYSQL_HOST='127.0.0.1' export MYSQL_PORT='3306' export MYSQL_USER='root' export MYSQL_PASSWORD='cpl20060831' export MYSQL_DATABASE='airfoil_engineering_db' export ADMIN_USERNAME='admin' export ADMIN_PASSWORD='admin123456' export ADMIN_ROLE='admin' export FLASK_HOST='0.0.0.0' export FLASK_PORT='8765' export FLASK_DEBUG='0' export FLASK_SECRET_KEY='airfoil-demo-change-this-secret'</a:t>
            </a:r>
            <a:endParaRPr lang="zh-CN" altLang="zh-CN" sz="20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Segoe WPC"/>
              </a:rPr>
              <a:t>上传：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scp backend/server_env.example.sh backend/start_server.sh backend/import_server_db.sh 'root@139.196.37.42:/root/airfoil_project/期末项目/backend/'</a:t>
            </a:r>
            <a:endParaRPr lang="zh-CN" altLang="zh-CN" sz="20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Segoe WPC"/>
              </a:rPr>
              <a:t>服务器上使用：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cd /root/airfoil_project/期末项目 cp backend/server_env.example.sh backend/server_env.sh source backend/server_env.sh</a:t>
            </a:r>
            <a:endParaRPr lang="zh-CN" altLang="zh-CN" sz="20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Segoe WPC"/>
              </a:rPr>
              <a:t>重新导入数据库：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bash backend/import_server_db.sh</a:t>
            </a:r>
            <a:endParaRPr lang="zh-CN" altLang="zh-CN" sz="20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Segoe WPC"/>
              </a:rPr>
              <a:t>启动后端：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bash backend/start_server.sh</a:t>
            </a:r>
            <a:endParaRPr lang="zh-CN" altLang="zh-CN" sz="20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000" b="0" i="0" dirty="0">
                <a:effectLst/>
                <a:latin typeface="Segoe WPC"/>
              </a:rPr>
              <a:t>以后要改密码或端口，只改服务器上的：</a:t>
            </a:r>
          </a:p>
          <a:p>
            <a:pPr marL="0" marR="0" indent="0" algn="l" rtl="0">
              <a:spcBef>
                <a:spcPts val="1050"/>
              </a:spcBef>
              <a:buNone/>
            </a:pPr>
            <a:r>
              <a:rPr lang="zh-CN" altLang="zh-CN" sz="2000" b="0" i="0" dirty="0">
                <a:effectLst/>
                <a:latin typeface="Consolas" panose="020B0609020204030204" pitchFamily="49" charset="0"/>
              </a:rPr>
              <a:t>backend/server_env.sh</a:t>
            </a:r>
            <a:endParaRPr lang="zh-CN" altLang="zh-CN" sz="2000" b="0" i="0" dirty="0"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550546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1926C-6A57-97B8-4634-44C87438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046162"/>
          </a:xfrm>
        </p:spPr>
        <p:txBody>
          <a:bodyPr/>
          <a:lstStyle/>
          <a:p>
            <a:r>
              <a:rPr lang="zh-CN" altLang="en-US" dirty="0"/>
              <a:t>事务实验一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02EE3-632C-4B8B-1475-85CDAB1B9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737123"/>
          </a:xfrm>
        </p:spPr>
        <p:txBody>
          <a:bodyPr/>
          <a:lstStyle/>
          <a:p>
            <a:r>
              <a:rPr lang="zh-CN" altLang="zh-CN" b="1" dirty="0"/>
              <a:t>场景一：两个用户同时修改同一条性能记录</a:t>
            </a:r>
            <a:endParaRPr lang="zh-CN" altLang="zh-CN" dirty="0"/>
          </a:p>
          <a:p>
            <a:r>
              <a:rPr lang="zh-CN" altLang="zh-CN" dirty="0"/>
              <a:t>实验目标：观察并发事务下 InnoDB 行级锁的行为。</a:t>
            </a:r>
          </a:p>
          <a:p>
            <a:r>
              <a:rPr lang="zh-CN" altLang="zh-CN" dirty="0"/>
              <a:t>实验设置：</a:t>
            </a:r>
          </a:p>
          <a:p>
            <a:r>
              <a:rPr lang="zh-CN" altLang="zh-CN" dirty="0"/>
              <a:t>User A 和 User B 同时修改 performance_records 中同一条记录。 User A 先开始事务并更新该记录，但暂不提交。 User B 随后尝试更新同一条记录。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后端创建一条测试性能记录 </a:t>
            </a:r>
            <a:r>
              <a:rPr lang="en-US" altLang="zh-CN" dirty="0" err="1"/>
              <a:t>perf_id</a:t>
            </a:r>
            <a:r>
              <a:rPr lang="en-US" altLang="zh-CN" dirty="0"/>
              <a:t> = 9100001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2. User A </a:t>
            </a:r>
            <a:r>
              <a:rPr lang="zh-CN" altLang="en-US" dirty="0"/>
              <a:t>开启事务，执行 </a:t>
            </a:r>
            <a:r>
              <a:rPr lang="en-US" altLang="zh-CN" dirty="0"/>
              <a:t>UPDATE</a:t>
            </a:r>
            <a:r>
              <a:rPr lang="zh-CN" altLang="en-US" dirty="0"/>
              <a:t>，并持有行锁约 </a:t>
            </a:r>
            <a:r>
              <a:rPr lang="en-US" altLang="zh-CN" dirty="0"/>
              <a:t>2 </a:t>
            </a:r>
            <a:r>
              <a:rPr lang="zh-CN" altLang="en-US" dirty="0"/>
              <a:t>秒。</a:t>
            </a:r>
          </a:p>
          <a:p>
            <a:pPr marL="0" indent="0">
              <a:buNone/>
            </a:pPr>
            <a:r>
              <a:rPr lang="en-US" altLang="zh-CN" dirty="0"/>
              <a:t>3. User B </a:t>
            </a:r>
            <a:r>
              <a:rPr lang="zh-CN" altLang="en-US" dirty="0"/>
              <a:t>开启事务，尝试 </a:t>
            </a:r>
            <a:r>
              <a:rPr lang="en-US" altLang="zh-CN" dirty="0"/>
              <a:t>UPDATE </a:t>
            </a:r>
            <a:r>
              <a:rPr lang="zh-CN" altLang="en-US" dirty="0"/>
              <a:t>同一条记录。</a:t>
            </a:r>
          </a:p>
          <a:p>
            <a:pPr marL="0" indent="0">
              <a:buNone/>
            </a:pPr>
            <a:r>
              <a:rPr lang="en-US" altLang="zh-CN" dirty="0"/>
              <a:t>4. User B </a:t>
            </a:r>
            <a:r>
              <a:rPr lang="zh-CN" altLang="en-US" dirty="0"/>
              <a:t>被阻塞，等待 </a:t>
            </a:r>
            <a:r>
              <a:rPr lang="en-US" altLang="zh-CN" dirty="0"/>
              <a:t>User A </a:t>
            </a:r>
            <a:r>
              <a:rPr lang="zh-CN" altLang="en-US" dirty="0"/>
              <a:t>提交。</a:t>
            </a:r>
          </a:p>
          <a:p>
            <a:pPr marL="0" indent="0">
              <a:buNone/>
            </a:pPr>
            <a:r>
              <a:rPr lang="en-US" altLang="zh-CN" dirty="0"/>
              <a:t>5. User A COMMIT </a:t>
            </a:r>
            <a:r>
              <a:rPr lang="zh-CN" altLang="en-US" dirty="0"/>
              <a:t>后，</a:t>
            </a:r>
            <a:r>
              <a:rPr lang="en-US" altLang="zh-CN" dirty="0"/>
              <a:t>User B </a:t>
            </a:r>
            <a:r>
              <a:rPr lang="zh-CN" altLang="en-US" dirty="0"/>
              <a:t>才能继续执行并 </a:t>
            </a:r>
            <a:r>
              <a:rPr lang="en-US" altLang="zh-CN" dirty="0"/>
              <a:t>COMMIT</a:t>
            </a:r>
            <a:r>
              <a:rPr lang="zh-CN" altLang="en-US" dirty="0"/>
              <a:t>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5498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89235-C658-F3F4-24A7-AC339666B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en-US" dirty="0"/>
              <a:t>事务实验一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4AADE-CA96-2514-87ED-1413E64D7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645" y="1652228"/>
            <a:ext cx="10515600" cy="5058287"/>
          </a:xfrm>
        </p:spPr>
        <p:txBody>
          <a:bodyPr>
            <a:normAutofit/>
          </a:bodyPr>
          <a:lstStyle/>
          <a:p>
            <a:r>
              <a:rPr lang="en-US" altLang="zh-CN" dirty="0"/>
              <a:t>User B </a:t>
            </a:r>
            <a:r>
              <a:rPr lang="zh-CN" altLang="en-US" dirty="0"/>
              <a:t>的 </a:t>
            </a:r>
            <a:r>
              <a:rPr lang="en-US" altLang="zh-CN" dirty="0"/>
              <a:t>UPDATE </a:t>
            </a:r>
            <a:r>
              <a:rPr lang="zh-CN" altLang="en-US" dirty="0"/>
              <a:t>执行时间明显更长。</a:t>
            </a:r>
          </a:p>
          <a:p>
            <a:r>
              <a:rPr lang="zh-CN" altLang="en-US" dirty="0"/>
              <a:t>最终记录值以后提交的事务为准。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Isolation </a:t>
            </a:r>
            <a:r>
              <a:rPr lang="zh-CN" altLang="en-US" dirty="0"/>
              <a:t>隔离性：</a:t>
            </a:r>
          </a:p>
          <a:p>
            <a:r>
              <a:rPr lang="zh-CN" altLang="en-US" dirty="0"/>
              <a:t>两个事务同时修改同一行时，</a:t>
            </a:r>
            <a:r>
              <a:rPr lang="en-US" altLang="zh-CN" dirty="0" err="1"/>
              <a:t>InnoDB</a:t>
            </a:r>
            <a:r>
              <a:rPr lang="en-US" altLang="zh-CN" dirty="0"/>
              <a:t> </a:t>
            </a:r>
            <a:r>
              <a:rPr lang="zh-CN" altLang="en-US" dirty="0"/>
              <a:t>使用行级锁保证数据不会被同时写坏。</a:t>
            </a:r>
          </a:p>
          <a:p>
            <a:endParaRPr lang="zh-CN" altLang="en-US" dirty="0"/>
          </a:p>
          <a:p>
            <a:r>
              <a:rPr lang="en-US" altLang="zh-CN" dirty="0"/>
              <a:t>Concurrency Control </a:t>
            </a:r>
            <a:r>
              <a:rPr lang="zh-CN" altLang="en-US" dirty="0"/>
              <a:t>并发控制：</a:t>
            </a:r>
          </a:p>
          <a:p>
            <a:r>
              <a:rPr lang="zh-CN" altLang="en-US" dirty="0"/>
              <a:t>后到达的事务需要等待先到达的事务释放锁。</a:t>
            </a:r>
          </a:p>
        </p:txBody>
      </p:sp>
    </p:spTree>
    <p:extLst>
      <p:ext uri="{BB962C8B-B14F-4D97-AF65-F5344CB8AC3E}">
        <p14:creationId xmlns:p14="http://schemas.microsoft.com/office/powerpoint/2010/main" val="1530856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6DDD-BF29-5040-86C8-C28872B6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DBCA5-6F3D-4018-F31D-2091F6EB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en-US" dirty="0"/>
              <a:t>事务实验二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7805F7-9F9D-046C-1430-34EFEBCF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3" y="1135627"/>
            <a:ext cx="12713109" cy="7005484"/>
          </a:xfrm>
        </p:spPr>
        <p:txBody>
          <a:bodyPr>
            <a:normAutofit/>
          </a:bodyPr>
          <a:lstStyle/>
          <a:p>
            <a:r>
              <a:rPr lang="zh-CN" altLang="zh-CN" b="1" dirty="0"/>
              <a:t>场景二：批量导入性能数据，其中一条非法导致整批回滚</a:t>
            </a:r>
            <a:endParaRPr lang="zh-CN" altLang="zh-CN" dirty="0"/>
          </a:p>
          <a:p>
            <a:r>
              <a:rPr lang="zh-CN" altLang="zh-CN" dirty="0"/>
              <a:t>实验目标：验证事务的原子性和约束一致性。</a:t>
            </a: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INSERT INTO performance_records (perf_id, airfoil_id, version_id, alpha_deg, reynolds_number, cl, cd, cm, source_type, is_anomaly)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VALUES (9000001, 'ag03', 1, 0, 123456, 0.5, 0.01, 0.0, 'generated_synthetic', 0);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INSERT INTO performance_records (perf_id, airfoil_id, version_id, alpha_deg, reynolds_number, cl, cd, cm, source_type, is_anomaly) 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VALUES (9000002, 'ag03', 1, </a:t>
            </a:r>
            <a:r>
              <a:rPr lang="zh-CN" altLang="zh-CN" sz="2400" dirty="0">
                <a:solidFill>
                  <a:srgbClr val="EE0000"/>
                </a:solidFill>
                <a:latin typeface="Consolas" panose="020B0609020204030204" pitchFamily="49" charset="0"/>
              </a:rPr>
              <a:t>99</a:t>
            </a:r>
            <a:r>
              <a:rPr lang="zh-CN" altLang="zh-CN" sz="2400" dirty="0">
                <a:latin typeface="Consolas" panose="020B0609020204030204" pitchFamily="49" charset="0"/>
              </a:rPr>
              <a:t>, 123456, 0.6, 0.02, 0.0, 'generated_synthetic', 0);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zh-CN" sz="2400" dirty="0">
              <a:latin typeface="Consolas" panose="020B0609020204030204" pitchFamily="49" charset="0"/>
            </a:endParaRPr>
          </a:p>
          <a:p>
            <a:r>
              <a:rPr lang="zh-CN" altLang="zh-CN" dirty="0"/>
              <a:t>其中第二条记录的：</a:t>
            </a:r>
            <a:r>
              <a:rPr lang="zh-CN" altLang="zh-CN" dirty="0">
                <a:latin typeface="Consolas" panose="020B0609020204030204" pitchFamily="49" charset="0"/>
              </a:rPr>
              <a:t>alpha_deg = 99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zh-CN" dirty="0"/>
              <a:t>违反了表约束</a:t>
            </a:r>
            <a:r>
              <a:rPr lang="zh-CN" altLang="zh-CN" dirty="0">
                <a:latin typeface="Consolas" panose="020B0609020204030204" pitchFamily="49" charset="0"/>
              </a:rPr>
              <a:t>CHECK (alpha_deg &gt;= -20 AND alpha_deg &lt;= 25)</a:t>
            </a:r>
          </a:p>
        </p:txBody>
      </p:sp>
    </p:spTree>
    <p:extLst>
      <p:ext uri="{BB962C8B-B14F-4D97-AF65-F5344CB8AC3E}">
        <p14:creationId xmlns:p14="http://schemas.microsoft.com/office/powerpoint/2010/main" val="2596049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F9F6B53-04FC-2497-5541-F9F341E65BFA}"/>
              </a:ext>
            </a:extLst>
          </p:cNvPr>
          <p:cNvSpPr txBox="1"/>
          <p:nvPr/>
        </p:nvSpPr>
        <p:spPr>
          <a:xfrm>
            <a:off x="0" y="0"/>
            <a:ext cx="12506633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实验过程：</a:t>
            </a:r>
          </a:p>
          <a:p>
            <a:r>
              <a:rPr lang="zh-CN" altLang="zh-CN" sz="2800" dirty="0"/>
              <a:t>1. 开启事务。 </a:t>
            </a:r>
            <a:endParaRPr lang="en-US" altLang="zh-CN" sz="2800" dirty="0"/>
          </a:p>
          <a:p>
            <a:r>
              <a:rPr lang="zh-CN" altLang="zh-CN" sz="2800" dirty="0"/>
              <a:t>2. 插入第一条合法性能记录。 </a:t>
            </a:r>
            <a:endParaRPr lang="en-US" altLang="zh-CN" sz="2800" dirty="0"/>
          </a:p>
          <a:p>
            <a:r>
              <a:rPr lang="zh-CN" altLang="zh-CN" sz="2800" dirty="0"/>
              <a:t>3. 插入第二条非法性能记录。 </a:t>
            </a:r>
            <a:endParaRPr lang="en-US" altLang="zh-CN" sz="2800" dirty="0"/>
          </a:p>
          <a:p>
            <a:r>
              <a:rPr lang="zh-CN" altLang="zh-CN" sz="2800" dirty="0"/>
              <a:t>4. 第二条触发 CHECK 约束错误。 </a:t>
            </a:r>
            <a:endParaRPr lang="en-US" altLang="zh-CN" sz="2800" dirty="0"/>
          </a:p>
          <a:p>
            <a:r>
              <a:rPr lang="zh-CN" altLang="zh-CN" sz="2800" dirty="0"/>
              <a:t>5. 后端自动 ROLLBACK。</a:t>
            </a:r>
          </a:p>
          <a:p>
            <a:endParaRPr lang="en-US" altLang="zh-CN" sz="2800" dirty="0"/>
          </a:p>
          <a:p>
            <a:r>
              <a:rPr lang="zh-CN" altLang="zh-CN" sz="2800" dirty="0"/>
              <a:t>验证 SQL：</a:t>
            </a:r>
          </a:p>
          <a:p>
            <a:r>
              <a:rPr lang="zh-CN" altLang="zh-CN" sz="2800" dirty="0">
                <a:latin typeface="Consolas" panose="020B0609020204030204" pitchFamily="49" charset="0"/>
              </a:rPr>
              <a:t>SELECT * FROM performance_records </a:t>
            </a:r>
            <a:endParaRPr lang="en-US" altLang="zh-CN" sz="2800" dirty="0">
              <a:latin typeface="Consolas" panose="020B0609020204030204" pitchFamily="49" charset="0"/>
            </a:endParaRPr>
          </a:p>
          <a:p>
            <a:r>
              <a:rPr lang="zh-CN" altLang="zh-CN" sz="2800" dirty="0">
                <a:latin typeface="Consolas" panose="020B0609020204030204" pitchFamily="49" charset="0"/>
              </a:rPr>
              <a:t>WHERE perf_id IN (9000001, 9000002);</a:t>
            </a:r>
          </a:p>
          <a:p>
            <a:endParaRPr lang="en-US" altLang="zh-CN" sz="2800" dirty="0"/>
          </a:p>
          <a:p>
            <a:r>
              <a:rPr lang="zh-CN" altLang="zh-CN" sz="2800" dirty="0"/>
              <a:t>预期结果：</a:t>
            </a:r>
          </a:p>
          <a:p>
            <a:r>
              <a:rPr lang="zh-CN" altLang="zh-CN" sz="2800" dirty="0"/>
              <a:t>查询结果为空。 第一条虽然已经执行过，但由于第二条失败，整批事务被回滚。</a:t>
            </a:r>
          </a:p>
          <a:p>
            <a:r>
              <a:rPr lang="zh-CN" altLang="zh-CN" sz="2800" dirty="0"/>
              <a:t>体现的数据库特性：</a:t>
            </a:r>
          </a:p>
          <a:p>
            <a:r>
              <a:rPr lang="zh-CN" altLang="zh-CN" sz="2800" dirty="0"/>
              <a:t>Atomicity 原子性： 事务中的操作要么全部成功，要么全部失败。 Consistency 一致性： CHECK 约束阻止非法性能数据进入数据库。</a:t>
            </a:r>
          </a:p>
        </p:txBody>
      </p:sp>
    </p:spTree>
    <p:extLst>
      <p:ext uri="{BB962C8B-B14F-4D97-AF65-F5344CB8AC3E}">
        <p14:creationId xmlns:p14="http://schemas.microsoft.com/office/powerpoint/2010/main" val="471506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10460-F2E7-7389-AB84-E08518A12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5709D-D717-99A7-1621-B808A42D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en-US" dirty="0"/>
              <a:t>事务实验三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FF8913-8568-0A98-E9BA-DE61A545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2228"/>
            <a:ext cx="12191999" cy="5058287"/>
          </a:xfrm>
        </p:spPr>
        <p:txBody>
          <a:bodyPr>
            <a:normAutofit/>
          </a:bodyPr>
          <a:lstStyle/>
          <a:p>
            <a:r>
              <a:rPr lang="zh-CN" altLang="en-US" dirty="0"/>
              <a:t>实验目标：验证跨表更新时事务的一致性。</a:t>
            </a:r>
          </a:p>
          <a:p>
            <a:r>
              <a:rPr lang="zh-CN" altLang="en-US" dirty="0"/>
              <a:t>实验 </a:t>
            </a:r>
            <a:r>
              <a:rPr lang="en-US" altLang="zh-CN" dirty="0"/>
              <a:t>SQL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UPDATE airfoils SET family = 'Version Atomic Test’ 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WHERE </a:t>
            </a:r>
            <a:r>
              <a:rPr lang="en-US" altLang="zh-CN" dirty="0" err="1">
                <a:latin typeface="Consolas" panose="020B0609020204030204" pitchFamily="49" charset="0"/>
              </a:rPr>
              <a:t>airfoil_id</a:t>
            </a:r>
            <a:r>
              <a:rPr lang="en-US" altLang="zh-CN" dirty="0">
                <a:latin typeface="Consolas" panose="020B0609020204030204" pitchFamily="49" charset="0"/>
              </a:rPr>
              <a:t> = 'ag03’; 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UPDATE </a:t>
            </a:r>
            <a:r>
              <a:rPr lang="en-US" altLang="zh-CN" dirty="0" err="1">
                <a:latin typeface="Consolas" panose="020B0609020204030204" pitchFamily="49" charset="0"/>
              </a:rPr>
              <a:t>data_versions</a:t>
            </a:r>
            <a:r>
              <a:rPr lang="en-US" altLang="zh-CN" dirty="0">
                <a:latin typeface="Consolas" panose="020B0609020204030204" pitchFamily="49" charset="0"/>
              </a:rPr>
              <a:t> SET </a:t>
            </a:r>
            <a:r>
              <a:rPr lang="en-US" altLang="zh-CN" dirty="0" err="1">
                <a:latin typeface="Consolas" panose="020B0609020204030204" pitchFamily="49" charset="0"/>
              </a:rPr>
              <a:t>version_type</a:t>
            </a:r>
            <a:r>
              <a:rPr lang="en-US" altLang="zh-CN" dirty="0">
                <a:latin typeface="Consolas" panose="020B0609020204030204" pitchFamily="49" charset="0"/>
              </a:rPr>
              <a:t> = '</a:t>
            </a:r>
            <a:r>
              <a:rPr lang="en-US" altLang="zh-CN" dirty="0" err="1">
                <a:latin typeface="Consolas" panose="020B0609020204030204" pitchFamily="49" charset="0"/>
              </a:rPr>
              <a:t>bad_version_type</a:t>
            </a:r>
            <a:r>
              <a:rPr lang="en-US" altLang="zh-CN" dirty="0">
                <a:latin typeface="Consolas" panose="020B0609020204030204" pitchFamily="49" charset="0"/>
              </a:rPr>
              <a:t>’ 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WHERE </a:t>
            </a:r>
            <a:r>
              <a:rPr lang="en-US" altLang="zh-CN" dirty="0" err="1">
                <a:latin typeface="Consolas" panose="020B0609020204030204" pitchFamily="49" charset="0"/>
              </a:rPr>
              <a:t>airfoil_id</a:t>
            </a:r>
            <a:r>
              <a:rPr lang="en-US" altLang="zh-CN" dirty="0">
                <a:latin typeface="Consolas" panose="020B0609020204030204" pitchFamily="49" charset="0"/>
              </a:rPr>
              <a:t> = 'ag03' AND </a:t>
            </a:r>
            <a:r>
              <a:rPr lang="en-US" altLang="zh-CN" dirty="0" err="1">
                <a:latin typeface="Consolas" panose="020B0609020204030204" pitchFamily="49" charset="0"/>
              </a:rPr>
              <a:t>version_id</a:t>
            </a:r>
            <a:r>
              <a:rPr lang="en-US" altLang="zh-CN" dirty="0">
                <a:latin typeface="Consolas" panose="020B0609020204030204" pitchFamily="49" charset="0"/>
              </a:rPr>
              <a:t> = 1;</a:t>
            </a:r>
          </a:p>
          <a:p>
            <a:r>
              <a:rPr lang="zh-CN" altLang="en-US" dirty="0"/>
              <a:t>其中第二条 </a:t>
            </a:r>
            <a:r>
              <a:rPr lang="en-US" altLang="zh-CN" dirty="0"/>
              <a:t>SQL </a:t>
            </a:r>
            <a:r>
              <a:rPr lang="zh-CN" altLang="en-US" dirty="0"/>
              <a:t>违反 </a:t>
            </a:r>
            <a:r>
              <a:rPr lang="en-US" altLang="zh-CN" dirty="0" err="1"/>
              <a:t>data_versions</a:t>
            </a:r>
            <a:r>
              <a:rPr lang="en-US" altLang="zh-CN" dirty="0"/>
              <a:t> </a:t>
            </a:r>
            <a:r>
              <a:rPr lang="zh-CN" altLang="en-US" dirty="0"/>
              <a:t>表约束：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CHECK (</a:t>
            </a:r>
            <a:r>
              <a:rPr lang="en-US" altLang="zh-CN" dirty="0" err="1">
                <a:latin typeface="Consolas" panose="020B0609020204030204" pitchFamily="49" charset="0"/>
              </a:rPr>
              <a:t>version_type</a:t>
            </a:r>
            <a:r>
              <a:rPr lang="en-US" altLang="zh-CN" dirty="0">
                <a:latin typeface="Consolas" panose="020B0609020204030204" pitchFamily="49" charset="0"/>
              </a:rPr>
              <a:t> IN ('imported_raw','</a:t>
            </a:r>
            <a:r>
              <a:rPr lang="en-US" altLang="zh-CN" dirty="0" err="1">
                <a:latin typeface="Consolas" panose="020B0609020204030204" pitchFamily="49" charset="0"/>
              </a:rPr>
              <a:t>augmented_from_raw</a:t>
            </a:r>
            <a:r>
              <a:rPr lang="en-US" altLang="zh-CN" dirty="0">
                <a:latin typeface="Consolas" panose="020B0609020204030204" pitchFamily="49" charset="0"/>
              </a:rPr>
              <a:t>'))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92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95061-4B7B-FCB8-911A-D6F8F9DE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F8F7B9B-BD47-5B94-FFB4-A14864975A5C}"/>
              </a:ext>
            </a:extLst>
          </p:cNvPr>
          <p:cNvSpPr txBox="1"/>
          <p:nvPr/>
        </p:nvSpPr>
        <p:spPr>
          <a:xfrm>
            <a:off x="161365" y="1915621"/>
            <a:ext cx="12030635" cy="4942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75"/>
              </a:lnSpc>
            </a:pPr>
            <a:endParaRPr lang="en-US" altLang="zh-CN" sz="2400" b="0" i="0" dirty="0">
              <a:effectLst/>
              <a:latin typeface="Segoe WPC"/>
            </a:endParaRPr>
          </a:p>
          <a:p>
            <a:pPr algn="l">
              <a:lnSpc>
                <a:spcPts val="1575"/>
              </a:lnSpc>
            </a:pPr>
            <a:r>
              <a:rPr lang="zh-CN" altLang="zh-CN" sz="2400" b="0" i="0" dirty="0">
                <a:effectLst/>
                <a:latin typeface="Segoe WPC"/>
              </a:rPr>
              <a:t>验证 SQL：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400" b="0" i="0" dirty="0">
                <a:effectLst/>
                <a:latin typeface="Consolas" panose="020B0609020204030204" pitchFamily="49" charset="0"/>
              </a:rPr>
              <a:t>SELECT a.airfoil_id, a.family, v.version_id, v.version_type FROM airfoils a JOIN data_versions v ON v.airfoil_id = a.airfoil_id WHERE a.airfoil_id = 'ag03' AND v.version_id = 1;</a:t>
            </a:r>
            <a:endParaRPr lang="zh-CN" altLang="zh-CN" sz="24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400" b="0" i="0" dirty="0">
                <a:effectLst/>
                <a:latin typeface="Segoe WPC"/>
              </a:rPr>
              <a:t>预期结果：</a:t>
            </a:r>
          </a:p>
          <a:p>
            <a:pPr marL="0" marR="0" indent="0" algn="l" rtl="0">
              <a:spcBef>
                <a:spcPts val="1050"/>
              </a:spcBef>
              <a:spcAft>
                <a:spcPts val="1050"/>
              </a:spcAft>
              <a:buNone/>
            </a:pPr>
            <a:r>
              <a:rPr lang="zh-CN" altLang="zh-CN" sz="2400" b="0" i="0" dirty="0">
                <a:effectLst/>
                <a:latin typeface="Consolas" panose="020B0609020204030204" pitchFamily="49" charset="0"/>
              </a:rPr>
              <a:t>airfoils.family 不会变成 'Version Atomic Test'。 data_versions.version_type 也不会变成非法值。 两个表保持原状态。</a:t>
            </a:r>
            <a:endParaRPr lang="zh-CN" altLang="zh-CN" sz="2400" b="0" i="0" dirty="0">
              <a:effectLst/>
              <a:latin typeface="Segoe WPC"/>
            </a:endParaRPr>
          </a:p>
          <a:p>
            <a:pPr indent="0" algn="l">
              <a:lnSpc>
                <a:spcPts val="1575"/>
              </a:lnSpc>
              <a:buNone/>
            </a:pPr>
            <a:r>
              <a:rPr lang="zh-CN" altLang="zh-CN" sz="2400" b="0" i="0" dirty="0">
                <a:effectLst/>
                <a:latin typeface="Segoe WPC"/>
              </a:rPr>
              <a:t>体现的数据库特性：</a:t>
            </a:r>
          </a:p>
          <a:p>
            <a:pPr>
              <a:spcBef>
                <a:spcPts val="1050"/>
              </a:spcBef>
              <a:spcAft>
                <a:spcPts val="1050"/>
              </a:spcAft>
            </a:pPr>
            <a:r>
              <a:rPr lang="zh-CN" altLang="zh-CN" sz="2400" b="0" i="0" dirty="0">
                <a:effectLst/>
                <a:latin typeface="Consolas" panose="020B0609020204030204" pitchFamily="49" charset="0"/>
              </a:rPr>
              <a:t>Atomicity 原子性： 跨表更新必须作为一个整体成功或失败。 Consistency 一致性： 版本表的 CHECK 约束保证版本类型合法。 Referential Integrity 参照完整性： data_versions 是 airfoils 的弱实体，依赖</a:t>
            </a:r>
            <a:r>
              <a:rPr lang="zh-CN" altLang="en-US" sz="2400" b="0" i="0" dirty="0">
                <a:effectLst/>
                <a:latin typeface="Consolas" panose="020B0609020204030204" pitchFamily="49" charset="0"/>
              </a:rPr>
              <a:t>关系的数据表，事务可以保证多个表之间的数据不会出现半更新状态。</a:t>
            </a:r>
            <a:endParaRPr lang="zh-CN" altLang="zh-CN" sz="2400" b="0" i="0" dirty="0">
              <a:effectLst/>
              <a:latin typeface="Segoe WPC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01AFDE-5DC3-1221-FC8A-8DADB9C8FB69}"/>
              </a:ext>
            </a:extLst>
          </p:cNvPr>
          <p:cNvSpPr txBox="1"/>
          <p:nvPr/>
        </p:nvSpPr>
        <p:spPr>
          <a:xfrm>
            <a:off x="2451846" y="161364"/>
            <a:ext cx="7449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实验过程</a:t>
            </a:r>
            <a:endParaRPr lang="en-US" altLang="zh-CN" sz="2400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开启事务。 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先更新 </a:t>
            </a:r>
            <a:r>
              <a:rPr lang="en-US" altLang="zh-CN" sz="2400" dirty="0"/>
              <a:t>airfoils </a:t>
            </a:r>
            <a:r>
              <a:rPr lang="zh-CN" altLang="en-US" sz="2400" dirty="0"/>
              <a:t>主表中的 </a:t>
            </a:r>
            <a:r>
              <a:rPr lang="en-US" altLang="zh-CN" sz="2400" dirty="0"/>
              <a:t>family </a:t>
            </a:r>
            <a:r>
              <a:rPr lang="zh-CN" altLang="en-US" sz="2400" dirty="0"/>
              <a:t>字段。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再更新 </a:t>
            </a:r>
            <a:r>
              <a:rPr lang="en-US" altLang="zh-CN" sz="2400" dirty="0" err="1"/>
              <a:t>data_versions</a:t>
            </a:r>
            <a:r>
              <a:rPr lang="en-US" altLang="zh-CN" sz="2400" dirty="0"/>
              <a:t> </a:t>
            </a:r>
            <a:r>
              <a:rPr lang="zh-CN" altLang="en-US" sz="2400" dirty="0"/>
              <a:t>中的 </a:t>
            </a:r>
            <a:r>
              <a:rPr lang="en-US" altLang="zh-CN" sz="2400" dirty="0" err="1"/>
              <a:t>version_type</a:t>
            </a:r>
            <a:r>
              <a:rPr lang="zh-CN" altLang="en-US" sz="2400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第二条 </a:t>
            </a:r>
            <a:r>
              <a:rPr lang="en-US" altLang="zh-CN" sz="2400" dirty="0"/>
              <a:t>SQL </a:t>
            </a:r>
            <a:r>
              <a:rPr lang="zh-CN" altLang="en-US" sz="2400" dirty="0"/>
              <a:t>由于非法 </a:t>
            </a:r>
            <a:r>
              <a:rPr lang="en-US" altLang="zh-CN" sz="2400" dirty="0" err="1"/>
              <a:t>version_type</a:t>
            </a:r>
            <a:r>
              <a:rPr lang="en-US" altLang="zh-CN" sz="2400" dirty="0"/>
              <a:t> </a:t>
            </a:r>
            <a:r>
              <a:rPr lang="zh-CN" altLang="en-US" sz="2400" dirty="0"/>
              <a:t>失败。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2400" dirty="0"/>
              <a:t>后端自动 </a:t>
            </a:r>
            <a:r>
              <a:rPr lang="en-US" altLang="zh-CN" sz="2400" dirty="0"/>
              <a:t>ROLLBACK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820604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28DCB-6594-39C2-2569-9A1C8E0B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-285115"/>
            <a:ext cx="10515600" cy="1325563"/>
          </a:xfrm>
        </p:spPr>
        <p:txBody>
          <a:bodyPr/>
          <a:lstStyle/>
          <a:p>
            <a:r>
              <a:rPr lang="zh-CN" altLang="zh-CN" dirty="0"/>
              <a:t>触发器实验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784059-BDBA-750C-0FB1-9FA5453A5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28344"/>
            <a:ext cx="11953240" cy="6129655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目标：验证数据库可以自动维护跨表一致性和审计日志。</a:t>
            </a:r>
          </a:p>
          <a:p>
            <a:r>
              <a:rPr lang="zh-CN" altLang="zh-CN" dirty="0"/>
              <a:t>场景 A：异常记录必须对应异常性能数据。</a:t>
            </a: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INSERT INTO anomaly_records (anomaly_id, perf_id, airfoil_id, version_id, rule_type, detail) VALUES (9900001, 1, 'ag03', 1, 'negative_cd', 'demo invalid anomaly');</a:t>
            </a:r>
          </a:p>
          <a:p>
            <a:r>
              <a:rPr lang="zh-CN" altLang="zh-CN" dirty="0"/>
              <a:t>预期：如果 perf_id = 1 对应的 performance_records.is_anomaly 不是 1，触发器会拒绝插入。</a:t>
            </a:r>
          </a:p>
          <a:p>
            <a:r>
              <a:rPr lang="zh-CN" altLang="zh-CN" dirty="0"/>
              <a:t>体现：普通 CHECK 不能跨表检查，但触发器可以检查 anomaly_records 与 performance_records 之间的业务一致性。</a:t>
            </a:r>
          </a:p>
          <a:p>
            <a:r>
              <a:rPr lang="zh-CN" altLang="zh-CN" dirty="0"/>
              <a:t>场景 B：修改性能数据时自动写入审计日志。</a:t>
            </a:r>
          </a:p>
          <a:p>
            <a:r>
              <a:rPr lang="zh-CN" altLang="zh-CN" dirty="0"/>
              <a:t>UPDATE performance_records SET cl = cl + 0.001 WHERE perf_id = 1; SELECT * FROM audit_logs ORDER BY audit_id DESC LIMIT 5;</a:t>
            </a:r>
          </a:p>
          <a:p>
            <a:r>
              <a:rPr lang="zh-CN" altLang="zh-CN" dirty="0"/>
              <a:t>预期：audit_logs 中出现一条记录，保存修改前后的 cl/cd/cm/is_anomaly。</a:t>
            </a:r>
          </a:p>
          <a:p>
            <a:r>
              <a:rPr lang="zh-CN" altLang="zh-CN" dirty="0"/>
              <a:t>体现：触发器可以自动记录关键工程数据的变更历史。</a:t>
            </a:r>
          </a:p>
        </p:txBody>
      </p:sp>
    </p:spTree>
    <p:extLst>
      <p:ext uri="{BB962C8B-B14F-4D97-AF65-F5344CB8AC3E}">
        <p14:creationId xmlns:p14="http://schemas.microsoft.com/office/powerpoint/2010/main" val="2869848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40A77-AFD8-3C3C-34F5-B0C89E65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87910"/>
            <a:ext cx="10515600" cy="1325563"/>
          </a:xfrm>
        </p:spPr>
        <p:txBody>
          <a:bodyPr/>
          <a:lstStyle/>
          <a:p>
            <a:r>
              <a:rPr lang="zh-CN" altLang="zh-CN" b="1" dirty="0"/>
              <a:t>视图实验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7D69E-708F-EB80-1420-FAFDEF239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7653"/>
            <a:ext cx="12192000" cy="5239310"/>
          </a:xfrm>
        </p:spPr>
        <p:txBody>
          <a:bodyPr>
            <a:normAutofit fontScale="85000" lnSpcReduction="20000"/>
          </a:bodyPr>
          <a:lstStyle/>
          <a:p>
            <a:r>
              <a:rPr lang="zh-CN" altLang="zh-CN" dirty="0"/>
              <a:t>目标：验证视图可以封装复杂查询，简化应用层 SQL。</a:t>
            </a:r>
          </a:p>
          <a:p>
            <a:r>
              <a:rPr lang="zh-CN" altLang="zh-CN" dirty="0"/>
              <a:t>场景 A：翼型总览视图。</a:t>
            </a:r>
          </a:p>
          <a:p>
            <a:r>
              <a:rPr lang="zh-CN" altLang="zh-CN" dirty="0"/>
              <a:t>SELECT * FROM v_airfoil_overview ORDER BY anomaly_count DESC, airfoil_id LIMIT 10;</a:t>
            </a:r>
          </a:p>
          <a:p>
            <a:r>
              <a:rPr lang="zh-CN" altLang="zh-CN" dirty="0"/>
              <a:t>这个视图把 airfoils、data_versions、coordinate_points、performance_records、anomaly_records 聚合到一起，直接得到每个翼型的版本数、坐标点数、性能记录数、异常数。</a:t>
            </a:r>
          </a:p>
          <a:p>
            <a:r>
              <a:rPr lang="zh-CN" altLang="zh-CN" dirty="0"/>
              <a:t>场景 B：升阻比视图。</a:t>
            </a:r>
          </a:p>
          <a:p>
            <a:r>
              <a:rPr lang="zh-CN" altLang="zh-CN" dirty="0"/>
              <a:t>SELECT airfoil_id, alpha_deg, reynolds_number, cl, cd, lift_drag_ratio FROM v_performance_with_ld WHERE reynolds_number = 50000 ORDER BY lift_drag_ratio DESC LIMIT 10;</a:t>
            </a:r>
          </a:p>
          <a:p>
            <a:r>
              <a:rPr lang="zh-CN" altLang="zh-CN" dirty="0"/>
              <a:t>这里把 cl / cd 封装成 lift_drag_ratio，应用层不用每次重复写计算逻辑。</a:t>
            </a:r>
          </a:p>
          <a:p>
            <a:r>
              <a:rPr lang="zh-CN" altLang="zh-CN" dirty="0"/>
              <a:t>场景 C：异常详情视图。</a:t>
            </a:r>
          </a:p>
          <a:p>
            <a:r>
              <a:rPr lang="zh-CN" altLang="zh-CN" dirty="0"/>
              <a:t>SELECT anomaly_id, airfoil_id, airfoil_name, rule_type, cl, cd, lift_drag_ratio FROM v_anomaly_details ORDER BY anomaly_id LIMIT 10;</a:t>
            </a:r>
          </a:p>
          <a:p>
            <a:r>
              <a:rPr lang="zh-CN" altLang="zh-CN" dirty="0"/>
              <a:t>体现：视图可以把多表 JOIN 和工程派生指标封装成“虚拟表”。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207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D5DCE-0FAD-B958-7DEA-CD31C94C8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zh-CN" dirty="0"/>
              <a:t>存储过程实验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E71F1-C5B3-D235-5DFB-4650CCCE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9" y="1185863"/>
            <a:ext cx="12192000" cy="5585759"/>
          </a:xfrm>
        </p:spPr>
        <p:txBody>
          <a:bodyPr>
            <a:normAutofit fontScale="92500" lnSpcReduction="20000"/>
          </a:bodyPr>
          <a:lstStyle/>
          <a:p>
            <a:r>
              <a:rPr lang="zh-CN" altLang="zh-CN" dirty="0"/>
              <a:t>目标：验证数据库可以封装可复用的分析逻辑。</a:t>
            </a:r>
          </a:p>
          <a:p>
            <a:r>
              <a:rPr lang="zh-CN" altLang="zh-CN" dirty="0"/>
              <a:t>场景 A：查询某个翼型在不同雷诺数下的性能摘要。</a:t>
            </a:r>
          </a:p>
          <a:p>
            <a:r>
              <a:rPr lang="zh-CN" altLang="zh-CN" dirty="0">
                <a:latin typeface="Consolas" panose="020B0609020204030204" pitchFamily="49" charset="0"/>
              </a:rPr>
              <a:t>CALL sp_airfoil_performance_summary('ag03', 1);</a:t>
            </a:r>
          </a:p>
          <a:p>
            <a:r>
              <a:rPr lang="zh-CN" altLang="zh-CN" dirty="0"/>
              <a:t>输出包括：</a:t>
            </a:r>
          </a:p>
          <a:p>
            <a:r>
              <a:rPr lang="zh-CN" altLang="zh-CN" dirty="0"/>
              <a:t>sample_count min_cd max_cl avg_cl max_lift_drag_ratio anomaly_count</a:t>
            </a:r>
          </a:p>
          <a:p>
            <a:r>
              <a:rPr lang="zh-CN" altLang="zh-CN" dirty="0"/>
              <a:t>适合解释“把常用统计分析放入数据库端”。</a:t>
            </a:r>
          </a:p>
          <a:p>
            <a:r>
              <a:rPr lang="zh-CN" altLang="zh-CN" dirty="0"/>
              <a:t>场景 B：按指定雷诺数比较多个翼型。</a:t>
            </a:r>
          </a:p>
          <a:p>
            <a:r>
              <a:rPr lang="zh-CN" altLang="zh-CN" dirty="0">
                <a:latin typeface="Consolas" panose="020B0609020204030204" pitchFamily="49" charset="0"/>
              </a:rPr>
              <a:t>CALL sp_compare_airfoils_by_re(50000, 'max_ld', 10);</a:t>
            </a:r>
          </a:p>
          <a:p>
            <a:r>
              <a:rPr lang="zh-CN" altLang="zh-CN" dirty="0"/>
              <a:t>也可以换指标：</a:t>
            </a: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CALL sp_compare_airfoils_by_re(50000, 'max_cl', 10); 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CALL sp_compare_airfoils_by_re(50000, 'min_cd', 10); 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CALL sp_compare_airfoils_by_re(50000, 'avg_cl', 10);</a:t>
            </a:r>
          </a:p>
          <a:p>
            <a:r>
              <a:rPr lang="zh-CN" altLang="zh-CN" dirty="0"/>
              <a:t>体现：存储过程可以接收参数，根据不同分析目标返回排名结果。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59274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514D-ED0C-602D-4A5F-6B258118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73A99-A96D-2619-C03D-9DC3761D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zh-CN" altLang="en-US" dirty="0"/>
              <a:t>过程批量导入实验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380EA-B6DE-1D29-7F03-E29747EC7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8" y="1185863"/>
            <a:ext cx="12250271" cy="5585759"/>
          </a:xfrm>
        </p:spPr>
        <p:txBody>
          <a:bodyPr>
            <a:normAutofit/>
          </a:bodyPr>
          <a:lstStyle/>
          <a:p>
            <a:r>
              <a:rPr lang="zh-CN" altLang="zh-CN" dirty="0"/>
              <a:t>performance_import_staging：批量导入暂存表</a:t>
            </a:r>
          </a:p>
          <a:p>
            <a:r>
              <a:rPr lang="zh-CN" altLang="zh-CN" dirty="0"/>
              <a:t>sp_validate_performance_import_batch(batch_id)：只做合法性检查</a:t>
            </a:r>
          </a:p>
          <a:p>
            <a:r>
              <a:rPr lang="zh-CN" altLang="zh-CN" dirty="0"/>
              <a:t>sp_import_performance_batch(batch_id)：检查通过才批量导入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 performance_records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en-US" dirty="0"/>
              <a:t>先 </a:t>
            </a:r>
            <a:r>
              <a:rPr lang="en-US" altLang="zh-CN" dirty="0"/>
              <a:t>INSERT </a:t>
            </a:r>
            <a:r>
              <a:rPr lang="zh-CN" altLang="en-US" dirty="0"/>
              <a:t>多行到 </a:t>
            </a:r>
            <a:r>
              <a:rPr lang="en-US" altLang="zh-CN" dirty="0" err="1"/>
              <a:t>performance_import_staging</a:t>
            </a:r>
            <a:endParaRPr lang="en-US" altLang="zh-CN" dirty="0"/>
          </a:p>
          <a:p>
            <a:r>
              <a:rPr lang="zh-CN" altLang="en-US" dirty="0"/>
              <a:t>再 </a:t>
            </a:r>
            <a:r>
              <a:rPr lang="en-US" altLang="zh-CN" dirty="0"/>
              <a:t>CALL </a:t>
            </a:r>
            <a:r>
              <a:rPr lang="zh-CN" altLang="en-US" dirty="0"/>
              <a:t>存储过程</a:t>
            </a:r>
          </a:p>
          <a:p>
            <a:r>
              <a:rPr lang="zh-CN" altLang="en-US" dirty="0"/>
              <a:t>如果任意一行非法：整批不导入正式表</a:t>
            </a:r>
          </a:p>
          <a:p>
            <a:r>
              <a:rPr lang="zh-CN" altLang="en-US" dirty="0"/>
              <a:t>如果全部合法：批量写入 </a:t>
            </a:r>
            <a:r>
              <a:rPr lang="en-US" altLang="zh-CN" dirty="0" err="1"/>
              <a:t>performance_records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7472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9D5B0A-9C82-BB83-8543-C862CF414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59"/>
            <a:ext cx="10515600" cy="5988704"/>
          </a:xfrm>
        </p:spPr>
        <p:txBody>
          <a:bodyPr>
            <a:normAutofit/>
          </a:bodyPr>
          <a:lstStyle/>
          <a:p>
            <a:r>
              <a:rPr lang="zh-CN" altLang="zh-CN" dirty="0"/>
              <a:t>检查内容包括：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zh-CN" dirty="0"/>
              <a:t>必填字段 </a:t>
            </a:r>
            <a:endParaRPr lang="en-US" altLang="zh-CN" dirty="0"/>
          </a:p>
          <a:p>
            <a:r>
              <a:rPr lang="zh-CN" altLang="zh-CN" dirty="0"/>
              <a:t>alpha_deg 范围 [-20, 25] </a:t>
            </a:r>
            <a:endParaRPr lang="en-US" altLang="zh-CN" dirty="0"/>
          </a:p>
          <a:p>
            <a:r>
              <a:rPr lang="zh-CN" altLang="zh-CN" dirty="0"/>
              <a:t>reynolds_number &gt; 0 </a:t>
            </a:r>
            <a:endParaRPr lang="en-US" altLang="zh-CN" dirty="0"/>
          </a:p>
          <a:p>
            <a:r>
              <a:rPr lang="zh-CN" altLang="zh-CN" dirty="0"/>
              <a:t>source_type = generated_synthetic </a:t>
            </a:r>
            <a:endParaRPr lang="en-US" altLang="zh-CN" dirty="0"/>
          </a:p>
          <a:p>
            <a:r>
              <a:rPr lang="zh-CN" altLang="zh-CN" dirty="0"/>
              <a:t>is_anomaly in (0, 1) </a:t>
            </a:r>
            <a:endParaRPr lang="en-US" altLang="zh-CN" dirty="0"/>
          </a:p>
          <a:p>
            <a:r>
              <a:rPr lang="zh-CN" altLang="zh-CN" dirty="0"/>
              <a:t>airfoil_id + version_id 必须存在 </a:t>
            </a:r>
            <a:endParaRPr lang="en-US" altLang="zh-CN" dirty="0"/>
          </a:p>
          <a:p>
            <a:r>
              <a:rPr lang="zh-CN" altLang="zh-CN" dirty="0"/>
              <a:t>perf_id 不能重复 </a:t>
            </a:r>
            <a:endParaRPr lang="en-US" altLang="zh-CN" dirty="0"/>
          </a:p>
          <a:p>
            <a:r>
              <a:rPr lang="zh-CN" altLang="zh-CN" dirty="0"/>
              <a:t>同一翼型/版本/攻角/Re 工况不能重复 </a:t>
            </a:r>
            <a:endParaRPr lang="en-US" altLang="zh-CN" dirty="0"/>
          </a:p>
          <a:p>
            <a:r>
              <a:rPr lang="zh-CN" altLang="zh-CN" dirty="0"/>
              <a:t>批次内部不能重复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2679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D704-F955-2702-DEC7-67CE1C15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0858D06-E65E-941C-E583-CF1FBD292CB3}"/>
              </a:ext>
            </a:extLst>
          </p:cNvPr>
          <p:cNvSpPr txBox="1"/>
          <p:nvPr/>
        </p:nvSpPr>
        <p:spPr>
          <a:xfrm>
            <a:off x="319368" y="382012"/>
            <a:ext cx="116888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mysql -uroot -pcpl20060831 airfoil_engineering_db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SHOW TRIGGERS;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SHOW FULL TABLES WHERE </a:t>
            </a:r>
            <a:r>
              <a:rPr lang="en-US" altLang="zh-CN" sz="2400" dirty="0" err="1">
                <a:latin typeface="Consolas" panose="020B0609020204030204" pitchFamily="49" charset="0"/>
              </a:rPr>
              <a:t>Table_type</a:t>
            </a:r>
            <a:r>
              <a:rPr lang="en-US" altLang="zh-CN" sz="2400" dirty="0">
                <a:latin typeface="Consolas" panose="020B0609020204030204" pitchFamily="49" charset="0"/>
              </a:rPr>
              <a:t> = 'VIEW';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SHOW PROCEDURE STATUS WHERE Db = '</a:t>
            </a:r>
            <a:r>
              <a:rPr lang="en-US" altLang="zh-CN" sz="2400" dirty="0" err="1">
                <a:latin typeface="Consolas" panose="020B0609020204030204" pitchFamily="49" charset="0"/>
              </a:rPr>
              <a:t>airfoil_engineering_db</a:t>
            </a:r>
            <a:r>
              <a:rPr lang="en-US" altLang="zh-CN" sz="2400" dirty="0">
                <a:latin typeface="Consolas" panose="020B0609020204030204" pitchFamily="49" charset="0"/>
              </a:rPr>
              <a:t>’;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-- </a:t>
            </a:r>
            <a:r>
              <a:rPr lang="zh-CN" altLang="en-US" sz="2400" dirty="0">
                <a:latin typeface="Consolas" panose="020B0609020204030204" pitchFamily="49" charset="0"/>
              </a:rPr>
              <a:t>视图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SELECT *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FROM </a:t>
            </a:r>
            <a:r>
              <a:rPr lang="en-US" altLang="zh-CN" sz="2400" dirty="0" err="1">
                <a:latin typeface="Consolas" panose="020B0609020204030204" pitchFamily="49" charset="0"/>
              </a:rPr>
              <a:t>v_airfoil_overview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ORDER BY </a:t>
            </a:r>
            <a:r>
              <a:rPr lang="en-US" altLang="zh-CN" sz="2400" dirty="0" err="1">
                <a:latin typeface="Consolas" panose="020B0609020204030204" pitchFamily="49" charset="0"/>
              </a:rPr>
              <a:t>anomaly_count</a:t>
            </a:r>
            <a:r>
              <a:rPr lang="en-US" altLang="zh-CN" sz="2400" dirty="0">
                <a:latin typeface="Consolas" panose="020B0609020204030204" pitchFamily="49" charset="0"/>
              </a:rPr>
              <a:t> DESC, </a:t>
            </a:r>
            <a:r>
              <a:rPr lang="en-US" altLang="zh-CN" sz="2400" dirty="0" err="1">
                <a:latin typeface="Consolas" panose="020B0609020204030204" pitchFamily="49" charset="0"/>
              </a:rPr>
              <a:t>airfoil_id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LIMIT 5;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-- </a:t>
            </a:r>
            <a:r>
              <a:rPr lang="zh-CN" altLang="en-US" sz="2400" dirty="0">
                <a:latin typeface="Consolas" panose="020B0609020204030204" pitchFamily="49" charset="0"/>
              </a:rPr>
              <a:t>过程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CALL </a:t>
            </a:r>
            <a:r>
              <a:rPr lang="en-US" altLang="zh-CN" sz="2400" dirty="0" err="1">
                <a:latin typeface="Consolas" panose="020B0609020204030204" pitchFamily="49" charset="0"/>
              </a:rPr>
              <a:t>sp_airfoil_performance_summary</a:t>
            </a:r>
            <a:r>
              <a:rPr lang="en-US" altLang="zh-CN" sz="2400" dirty="0">
                <a:latin typeface="Consolas" panose="020B0609020204030204" pitchFamily="49" charset="0"/>
              </a:rPr>
              <a:t>('ag03', 1);</a:t>
            </a:r>
          </a:p>
          <a:p>
            <a:endParaRPr lang="en-US" altLang="zh-CN" sz="2400" dirty="0">
              <a:latin typeface="Consolas" panose="020B0609020204030204" pitchFamily="49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</a:rPr>
              <a:t>CALL </a:t>
            </a:r>
            <a:r>
              <a:rPr lang="en-US" altLang="zh-CN" sz="2400" dirty="0" err="1">
                <a:latin typeface="Consolas" panose="020B0609020204030204" pitchFamily="49" charset="0"/>
              </a:rPr>
              <a:t>sp_compare_airfoils_by_re</a:t>
            </a:r>
            <a:r>
              <a:rPr lang="en-US" altLang="zh-CN" sz="2400" dirty="0">
                <a:latin typeface="Consolas" panose="020B0609020204030204" pitchFamily="49" charset="0"/>
              </a:rPr>
              <a:t>(50000, '</a:t>
            </a:r>
            <a:r>
              <a:rPr lang="en-US" altLang="zh-CN" sz="2400" dirty="0" err="1">
                <a:latin typeface="Consolas" panose="020B0609020204030204" pitchFamily="49" charset="0"/>
              </a:rPr>
              <a:t>max_ld</a:t>
            </a:r>
            <a:r>
              <a:rPr lang="en-US" altLang="zh-CN" sz="2400" dirty="0">
                <a:latin typeface="Consolas" panose="020B0609020204030204" pitchFamily="49" charset="0"/>
              </a:rPr>
              <a:t>', 10);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14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7A9D-1490-FFD3-ECCF-8E2898DC1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DBFD3B-7BF6-E100-4360-4627ECE62DA3}"/>
              </a:ext>
            </a:extLst>
          </p:cNvPr>
          <p:cNvSpPr txBox="1"/>
          <p:nvPr/>
        </p:nvSpPr>
        <p:spPr>
          <a:xfrm>
            <a:off x="292474" y="220159"/>
            <a:ext cx="1148715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过程批量导入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INSERT INTO performance_import_staging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(batch_id, perf_id, airfoil_id, version_id, alpha_deg, reynolds_number, cl, cd, cm, source_type, is_anomaly)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VALUES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('demo_bad_batch', 9900101, 'ag03', 1, 0, 123456, 0.5, 0.01, 0.0, 'generated_synthetic', 0),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('demo_bad_batch', 9900102, 'ag03', 1, 99, 123456, 0.6, 0.02, 0.0, 'generated_synthetic', 0);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CALL sp_import_performance_batch('demo_bad_batch');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SELECT *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FROM performance_records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WHERE perf_id IN (9900101, 9900102);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zh-CN" sz="2000" dirty="0"/>
              <a:t>预期：CALL 返回 rejected，并指出 alpha_deg out of range [-20, 25]；最后 performance_records 查询为空。这样就能证明非法批量导入没有进入正式表。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9870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C9AA3-5F7D-FCFC-96AD-0FB788833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Checklist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46BD4A-7DAC-C47F-0156-A5281EA89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813977"/>
              </p:ext>
            </p:extLst>
          </p:nvPr>
        </p:nvGraphicFramePr>
        <p:xfrm>
          <a:off x="163445" y="1143735"/>
          <a:ext cx="11856278" cy="522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7883">
                  <a:extLst>
                    <a:ext uri="{9D8B030D-6E8A-4147-A177-3AD203B41FA5}">
                      <a16:colId xmlns:a16="http://schemas.microsoft.com/office/drawing/2014/main" val="2764534180"/>
                    </a:ext>
                  </a:extLst>
                </a:gridCol>
                <a:gridCol w="1208395">
                  <a:extLst>
                    <a:ext uri="{9D8B030D-6E8A-4147-A177-3AD203B41FA5}">
                      <a16:colId xmlns:a16="http://schemas.microsoft.com/office/drawing/2014/main" val="1724864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需求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949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 1：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工程数据管理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。系统需要管理翼型基本信息、几何坐标、性能记录、数据版本、数据来源等信息，并能够完成录入、查询、更新、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标记失效等操作。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251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 2：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数据库优化与机制实现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。系统需要体现规范化设计、完整性约束、索引设计、执行计划分析，以及至少一个事务场景或并发一致性场景。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6911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 3：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数据治理与质量控制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。系统需要能够发现明显异常数据，并保留数据版本与来源信息，使数据具有可解释性与可追踪性。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修改的版本控制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53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任务 4：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数据智能协同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。系统需要实现自然语言问题到 SQL 的受控生成与审计，并对数据库查询结果进行智能解释，同时分析大模型输出的正确性边界。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46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UIUC Airfoil Coordinates Database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作为翼型几何数据的基础来源。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716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不用导入全部公开翼型数据， 可选取 60 至 100 个翼型作。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63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采用程序生成方式，必须在报告中说明生成规则、参数设定及其合理性边界，不能将纯随机生成结果伪装为真实工程测量数据</a:t>
                      </a:r>
                      <a:r>
                        <a:rPr lang="zh-CN" altLang="zh-CN" dirty="0">
                          <a:highlight>
                            <a:srgbClr val="FFFF00"/>
                          </a:highlight>
                        </a:rPr>
                        <a:t> 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【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报告</a:t>
                      </a:r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48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翼型数量不少于 60 个；每个翼型至少包含 80 个以上几何坐标点；性能记录总数不少于 3000 条；性能数据至少覆盖多个攻角条件以及 2 个及以上雷诺数条件；数据集中应包含少量异常数据或可疑数据，用于支持数据质量治理实验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【</a:t>
                      </a:r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还没导入</a:t>
                      </a:r>
                      <a:r>
                        <a:rPr lang="en-US" altLang="zh-CN" dirty="0">
                          <a:solidFill>
                            <a:srgbClr val="EE0000"/>
                          </a:solidFill>
                        </a:rPr>
                        <a:t>】</a:t>
                      </a:r>
                      <a:endParaRPr lang="zh-CN" altLang="en-US" dirty="0">
                        <a:solidFill>
                          <a:srgbClr val="EE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4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716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638CC8A-AD0C-4F79-2B68-A337E779C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64844"/>
              </p:ext>
            </p:extLst>
          </p:nvPr>
        </p:nvGraphicFramePr>
        <p:xfrm>
          <a:off x="130313" y="0"/>
          <a:ext cx="11931373" cy="6954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03778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需求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rgbClr val="EE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希望达到更高完成度的小组，可以进一步扩展到 80 个以上翼型、每翼型 120 个以上坐标点、总性能记录超过 5000 条，以支持更充分的索引实验、分区实验和 AI协同测试。</a:t>
                      </a:r>
                      <a:r>
                        <a:rPr lang="zh-CN" altLang="zh-CN" dirty="0">
                          <a:solidFill>
                            <a:srgbClr val="EE0000"/>
                          </a:solidFill>
                        </a:rPr>
                        <a:t> </a:t>
                      </a:r>
                      <a:endParaRPr lang="zh-CN" altLang="en-US" dirty="0">
                        <a:solidFill>
                          <a:srgbClr val="EE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EE0000"/>
                          </a:solidFill>
                        </a:rPr>
                        <a:t>未导入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airfoils.csv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：翼型基础信息表，用于存储翼型编号、名称、来源、家族类别及是否为生成数据等信息；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coordinates.csv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：坐标点数据表，用于存储翼型在特定版本下的逐点坐标数据；</a:t>
                      </a:r>
                    </a:p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performance.csv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：性能数据表，用于存储翼型在不同攻角、雷诺数等工况下的升力系数、阻力系数等性能记录；</a:t>
                      </a:r>
                    </a:p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data_versions.csv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：版本信息表，用于存储版本编号、所属翼型、版本号及版本类型；</a:t>
                      </a:r>
                    </a:p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anomalies.csv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或等价标记字段：用于标记异常数据记录，支撑后续质量治理实验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第一，不能只提交生成后的 CSV 文件而不说明生成规则；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第二，必须区分真实导入数据与脚本生成数据，并在数据库中保留相应标记；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第三，必须说明版本数据、异常数据与原始数据之间的关系；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第四，不能将该脚本直接视为最终项目实现，仍需自行完成数据库建模、表结构设计、完整性约束、索引设计、查询实现和 AI 协同审计；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第五，若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对性能生成模型进行了改动，必须说明改动依据，并说明其物理合理性和局限性。</a:t>
                      </a:r>
                      <a:r>
                        <a:rPr lang="zh-CN" altLang="zh-CN" dirty="0">
                          <a:highlight>
                            <a:srgbClr val="FFFF00"/>
                          </a:highlight>
                        </a:rPr>
                        <a:t> 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生成规则说明没写。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生成模型改动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哪些数据来自公开数据源；</a:t>
                      </a:r>
                      <a:endParaRPr lang="zh-CN" altLang="zh-CN" dirty="0"/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哪些数据来自程序扩增或仿真生成；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生成数据所用规则是否具有物理合理性；</a:t>
                      </a:r>
                      <a:endParaRPr lang="en-US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异常数据是自然存在还是为了教学实验故意注入。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翼型基础信息管理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能够记录翼型名称、编号、类别、来源、生成方式、备注信息等。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几何坐标管理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能够管理翼型坐标点，支持按翼型读取完整轮廓，并区分上表面、下表面或其他必要标记。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511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318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AB8DF41-D5C3-1B04-29DA-8E5C9B51B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12223"/>
              </p:ext>
            </p:extLst>
          </p:nvPr>
        </p:nvGraphicFramePr>
        <p:xfrm>
          <a:off x="145774" y="136571"/>
          <a:ext cx="11931373" cy="6405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03778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需求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性能数据管理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能够记录不同攻角、雷诺数等条件下的性能数据，例如升力系数、阻力系数、升阻比等，并支持多条件查询。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数据版本管理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当几何数据或性能数据修订后，系统应能保留版本信息，而不是直接覆盖原始记录。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版本管理可以采用显式版本表，也可以采用带版本号的主表设计，但必须说明原因。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  <a:endParaRPr lang="en-US" altLang="zh-CN" dirty="0"/>
                    </a:p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数据语义版本和管理版本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异常数据识别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系统需实现至少一类规则检测，例如：阻力系数为负；升阻比异常偏离；同一翼型在邻近攻角下性能变化不合理。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查询与分析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系统应至少实现以下三类查询中的两类以上：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给定翼型编号，查询其全部几何坐标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给定工况条件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，查询满足性能阈值的翼型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；比较多个翼型在同一雷诺数下的性能曲线；查询某翼型在不同版本下的性能差异；识别含异常记录的翼型。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有个工况</a:t>
                      </a:r>
                      <a:r>
                        <a:rPr lang="en-US" altLang="zh-CN" dirty="0"/>
                        <a:t>-&gt;</a:t>
                      </a:r>
                      <a:r>
                        <a:rPr lang="zh-CN" altLang="en-US" dirty="0"/>
                        <a:t>翼型的查询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数据导出与结果展示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至少支持将部分查询结果导出为 CSV 或图像，并能展示关键曲线分析结果。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每组必须提交完整的概念模型或 ER 图，并说明核心实体及其关系。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推荐至少包含以下实体：</a:t>
                      </a:r>
                    </a:p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Airfoil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：翼型基本信息；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CoordinatePoint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：翼型坐标点；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PerformanceRecord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：性能数据；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DataVersion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：版本信息；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DataSource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：数据来源信息；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：用户或操作人员信息。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如有需要，可扩展为： ExperimentCondition、 AnomalyRecord、 QueryLog 等辅助实体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511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69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C2D2769-8E64-034A-47DD-BE9E7EEDF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6925"/>
              </p:ext>
            </p:extLst>
          </p:nvPr>
        </p:nvGraphicFramePr>
        <p:xfrm>
          <a:off x="145774" y="136571"/>
          <a:ext cx="11931373" cy="658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03778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需求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每组必须说明：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主键与外键设计；是否存在函数依赖；是否达到第三范式，若未达到，为什么保留部分冗余；哪些字段适合建立联合索引。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数据库中至少应包含以下几类约束：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主键约束；外键约束；非空约束；唯一约束；检查约束。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例如：阻力系数 Cd 必须大于等于 0；攻角 alpha 应在合理范围内；同一版本下同一翼型同一工况不应重复插入。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索引设计与性能实验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每组必须围绕至少一类核心查询进行索引优化实验。实验至少包括：</a:t>
                      </a:r>
                      <a:endParaRPr lang="zh-CN" altLang="zh-CN" dirty="0"/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无索引情况下的查询耗时；建立单列索引后的变化；建立复合索引后的变化；必要时删除某索引再对比。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必须提交：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查询语句；执行计划截图或文本；性能对比分析；你们为什么选择该索引，而不是其他字段。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报告精修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事务或并发实验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每组至少完成一个事务相关场景。推荐选项如下：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两个用户同时修改同一条性能记录；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批量导入一组性能数据时，其中一条非法导致整批回滚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更新翼型版本信息时，版本表与主表必须同时成功或同时失败。</a:t>
                      </a:r>
                      <a:r>
                        <a:rPr lang="zh-CN" altLang="zh-CN" dirty="0">
                          <a:highlight>
                            <a:srgbClr val="FFFF00"/>
                          </a:highlight>
                        </a:rPr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报告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视图、触发器或存储过程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三者至少选择其一实现一个有实际意义的机制，例如：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通过视图统一展示“当前有效版本”；通过触发器自动写入修改日志；通过存储过程完成批量导入和合法性检查。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报告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911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9D80F40-E082-331B-4EAA-E566925BD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08651"/>
              </p:ext>
            </p:extLst>
          </p:nvPr>
        </p:nvGraphicFramePr>
        <p:xfrm>
          <a:off x="130313" y="0"/>
          <a:ext cx="11931373" cy="7132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03778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55564">
                <a:tc>
                  <a:txBody>
                    <a:bodyPr/>
                    <a:lstStyle/>
                    <a:p>
                      <a:r>
                        <a:rPr lang="zh-CN" altLang="en-US" dirty="0"/>
                        <a:t>需求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是否完成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5556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异常规则检测</a:t>
                      </a:r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 SQL 或数据库逻辑检测异常记录，并将异常记录单独标识或写入异常表。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5556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版本追踪</a:t>
                      </a:r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能够说明某条数据来自哪个版本，何时写入，是否被修订。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半完成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5556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数据来源说明</a:t>
                      </a:r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至少区分真实来源数据与生成数据，并在数据库或文档中保留说明。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61371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删除策略说明</a:t>
                      </a:r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必须说明系统中哪些数据允许物理删除，哪些只能逻辑删除。原则上，核心工程数据不建议直接删除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半完成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192881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自然语言到 SQL 的受控生成与审计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你们需要设计一组自然语言问题，使用大模型生成 SQL，并进行人工或程序审计。要求：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自然语言问题不少于 </a:t>
                      </a:r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条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；至少覆盖单表查询、多表连接、分组统计、条件筛选中的若干类型；逐条判断生成 SQL 是否正确；总结错误类型。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重点分析以下问题：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是否出现字段名错误；是否遗漏连接条件；是否误用了聚合；是否把版本表或条件表理解错；加入 schema 提示后是否有改进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  <a:tr h="113975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查询结果的智能解释与审计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对于若干数据库查询结果，要求大模型给出解释，然后判断其是否合理。分析重点包括：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解释是否真正基于结果；是否符合基本工程常识；是否出现“听起来合理但实际错误”的幻觉；数据库结果不足时，大模型是否擅自补充不存在的信息。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061312"/>
                  </a:ext>
                </a:extLst>
              </a:tr>
              <a:tr h="87673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异常检测对比实验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可以比较基于规则的检测与基于大模型的检测结果差异，讨论：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大模型是否真的提高了异常识别效果；在哪些情况下规则方法更稳；在哪些情况下大模型有辅助价值。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97157"/>
                  </a:ext>
                </a:extLst>
              </a:tr>
              <a:tr h="87673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可视化分析要求</a:t>
                      </a:r>
                      <a:r>
                        <a:rPr lang="en-US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每组至少实现两项图形化分析，例如：Cl 与 alpha 的关系曲线； Cd 与 alpha 的关系曲线；Cl/Cd 与 alpha 的关系曲线；多个翼型在同一 Re 下的性能对比图；不同版本翼型的性能差异图。</a:t>
                      </a:r>
                      <a:r>
                        <a:rPr lang="zh-CN" altLang="zh-CN" dirty="0"/>
                        <a:t> </a:t>
                      </a:r>
                      <a:br>
                        <a:rPr lang="zh-CN" altLang="zh-CN" dirty="0"/>
                      </a:b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975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1009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8CD7EC-1870-0EDE-9DC8-F1B07861F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188285"/>
              </p:ext>
            </p:extLst>
          </p:nvPr>
        </p:nvGraphicFramePr>
        <p:xfrm>
          <a:off x="130313" y="0"/>
          <a:ext cx="11931373" cy="69718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03778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54354">
                <a:tc>
                  <a:txBody>
                    <a:bodyPr/>
                    <a:lstStyle/>
                    <a:p>
                      <a:r>
                        <a:rPr lang="zh-CN" altLang="en-US"/>
                        <a:t>需求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是否完成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坐标点数据是否适合直接以 JSON 方式存储，为什么；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当数据规模扩大 100 倍后，当前模式和索引是否仍然适用；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实验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性能数据是否适合列式数据库或分析型数据库；版本表是独立设计更好，还是嵌入主表更好；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40571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数据库与大模型协同的边界在哪里；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475039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大模型是否适合直接参与事务写入；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  <a:tr h="436523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异常检测中，规则方法与大模型方法各自适合什么场景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完成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061312"/>
                  </a:ext>
                </a:extLst>
              </a:tr>
              <a:tr h="667623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项目说明文档； ER 图或概念模型图；数据库建表脚本、约束脚本、索引脚本；初始化数据或数据导入脚本；系统源代码；性能实验报告； AI 协同测试日志；科学思辨报告；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还有一点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97157"/>
                  </a:ext>
                </a:extLst>
              </a:tr>
              <a:tr h="65478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概念建模与规范化分析（15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是否正确抽象工程对象；是否进行了基本规范化分析；是否能解释自己的结构设计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1 1 1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975030"/>
                  </a:ext>
                </a:extLst>
              </a:tr>
              <a:tr h="667623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表结构与完整性约束（15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表设计是否合理；是否存在明确主外键关系；约束是否真正发挥作用。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1 1  1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162348"/>
                  </a:ext>
                </a:extLst>
              </a:tr>
              <a:tr h="641946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查询设计与索引优化（15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是否围绕真实查询设计索引；是否做了执行计划分析；性能改进是否有依据。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0.5 1 0.5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85978"/>
                  </a:ext>
                </a:extLst>
              </a:tr>
              <a:tr h="710216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事务或一致性机制（10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是否实现了至少一个有意义的事务场景；是否理解数据库一致性问题。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0.5-》100</a:t>
                      </a:r>
                      <a:r>
                        <a:rPr lang="zh-CN" altLang="en-US" dirty="0"/>
                        <a:t>个进程）  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19005"/>
                  </a:ext>
                </a:extLst>
              </a:tr>
              <a:tr h="849392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数据治理与版本管理（15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是否能识别异常数据；是否实现了版本追踪；是否说明数据来源和删除策略。</a:t>
                      </a:r>
                      <a:r>
                        <a:rPr lang="zh-CN" altLang="zh-CN" dirty="0"/>
                        <a:t>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1  1  1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3701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656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CC08E7A-4FC7-274F-63B4-41A162061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00578"/>
              </p:ext>
            </p:extLst>
          </p:nvPr>
        </p:nvGraphicFramePr>
        <p:xfrm>
          <a:off x="221887" y="715617"/>
          <a:ext cx="11748225" cy="4827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20630">
                  <a:extLst>
                    <a:ext uri="{9D8B030D-6E8A-4147-A177-3AD203B41FA5}">
                      <a16:colId xmlns:a16="http://schemas.microsoft.com/office/drawing/2014/main" val="4236077910"/>
                    </a:ext>
                  </a:extLst>
                </a:gridCol>
                <a:gridCol w="1627595">
                  <a:extLst>
                    <a:ext uri="{9D8B030D-6E8A-4147-A177-3AD203B41FA5}">
                      <a16:colId xmlns:a16="http://schemas.microsoft.com/office/drawing/2014/main" val="2356668744"/>
                    </a:ext>
                  </a:extLst>
                </a:gridCol>
              </a:tblGrid>
              <a:tr h="354354">
                <a:tc>
                  <a:txBody>
                    <a:bodyPr/>
                    <a:lstStyle/>
                    <a:p>
                      <a:r>
                        <a:rPr lang="zh-CN" altLang="en-US"/>
                        <a:t>需求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是否完成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96702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系统实现完整性（10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系统是否能支撑核心流程；是否形成完整可演示系统。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lain"/>
                      </a:pP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5140508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 协同审计能力（15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是否真正测试并分析了 NL2SQL；是否能指出大模型解释中的错误；是否体现出批判性审计能力。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1    1    1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56838"/>
                  </a:ext>
                </a:extLst>
              </a:tr>
              <a:tr h="354354">
                <a:tc>
                  <a:txBody>
                    <a:bodyPr/>
                    <a:lstStyle/>
                    <a:p>
                      <a:r>
                        <a:rPr lang="zh-CN" altLang="zh-C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科学思辨深度（5 分）</a:t>
                      </a:r>
                    </a:p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是否能对数据库与 AI 协同边界进行有根据的反思。</a:t>
                      </a:r>
                      <a:r>
                        <a:rPr lang="zh-CN" altLang="zh-CN" dirty="0"/>
                        <a:t> </a:t>
                      </a:r>
                      <a:endParaRPr lang="zh-CN" altLang="zh-CN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053147"/>
                  </a:ext>
                </a:extLst>
              </a:tr>
              <a:tr h="40571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能够区分“原始数据、派生数据、版本数据、异常数据”四类对象；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2588947"/>
                  </a:ext>
                </a:extLst>
              </a:tr>
              <a:tr h="475039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能够说明为什么某些字段必须单独建表而不能直接塞进 JSON；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389202"/>
                  </a:ext>
                </a:extLst>
              </a:tr>
              <a:tr h="436523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能够用数据库机制而不是应用层硬编码保证数据规则；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061312"/>
                  </a:ext>
                </a:extLst>
              </a:tr>
              <a:tr h="385633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能够证明索引设计与查询模式之间的关系；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9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能够对 AI 生成 SQL 的错误进行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类型化总结</a:t>
                      </a:r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975030"/>
                  </a:ext>
                </a:extLst>
              </a:tr>
              <a:tr h="473103"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能够明确指出大模型在工程数据解释中的边界，而不是一味肯定。</a:t>
                      </a:r>
                      <a:r>
                        <a:rPr lang="zh-CN" altLang="zh-CN" dirty="0"/>
                        <a:t>  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1162348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78D68C2E-A431-CFD2-FA01-7540D77C19D2}"/>
              </a:ext>
            </a:extLst>
          </p:cNvPr>
          <p:cNvSpPr/>
          <p:nvPr/>
        </p:nvSpPr>
        <p:spPr>
          <a:xfrm>
            <a:off x="-424070" y="2782957"/>
            <a:ext cx="13013635" cy="3048000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76142-14A3-EC83-80D6-0DCBADDD3880}"/>
              </a:ext>
            </a:extLst>
          </p:cNvPr>
          <p:cNvSpPr txBox="1"/>
          <p:nvPr/>
        </p:nvSpPr>
        <p:spPr>
          <a:xfrm>
            <a:off x="4200939" y="624177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写一个补充报告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44C530-733E-36B5-5212-42B8A905B121}"/>
              </a:ext>
            </a:extLst>
          </p:cNvPr>
          <p:cNvSpPr txBox="1"/>
          <p:nvPr/>
        </p:nvSpPr>
        <p:spPr>
          <a:xfrm>
            <a:off x="8123583" y="6241774"/>
            <a:ext cx="253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另附</a:t>
            </a:r>
            <a:r>
              <a:rPr lang="en-US" altLang="zh-CN" dirty="0"/>
              <a:t>checklist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537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t_tnr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</TotalTime>
  <Words>6561</Words>
  <Application>Microsoft Office PowerPoint</Application>
  <PresentationFormat>宽屏</PresentationFormat>
  <Paragraphs>609</Paragraphs>
  <Slides>43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Segoe WPC</vt:lpstr>
      <vt:lpstr>等线</vt:lpstr>
      <vt:lpstr>Arial</vt:lpstr>
      <vt:lpstr>Consolas</vt:lpstr>
      <vt:lpstr>Times New Roman</vt:lpstr>
      <vt:lpstr>Office 主题​​</vt:lpstr>
      <vt:lpstr>数据集</vt:lpstr>
      <vt:lpstr>UIUC Dataset</vt:lpstr>
      <vt:lpstr>PowerPoint 演示文稿</vt:lpstr>
      <vt:lpstr>处理后csv文件</vt:lpstr>
      <vt:lpstr>处理报告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E-R Model and Normalization</vt:lpstr>
      <vt:lpstr>DataSource</vt:lpstr>
      <vt:lpstr>Airfoil</vt:lpstr>
      <vt:lpstr>DataVersion</vt:lpstr>
      <vt:lpstr>CoordinatePoint</vt:lpstr>
      <vt:lpstr>PerformanceRecord</vt:lpstr>
      <vt:lpstr>AnomalyRecord</vt:lpstr>
      <vt:lpstr>User &amp; QueryLog</vt:lpstr>
      <vt:lpstr>云部署——数据导入</vt:lpstr>
      <vt:lpstr>网页启动</vt:lpstr>
      <vt:lpstr>PowerPoint 演示文稿</vt:lpstr>
      <vt:lpstr>PowerPoint 演示文稿</vt:lpstr>
      <vt:lpstr>事务实验一</vt:lpstr>
      <vt:lpstr>事务实验一</vt:lpstr>
      <vt:lpstr>事务实验二</vt:lpstr>
      <vt:lpstr>PowerPoint 演示文稿</vt:lpstr>
      <vt:lpstr>事务实验三</vt:lpstr>
      <vt:lpstr>PowerPoint 演示文稿</vt:lpstr>
      <vt:lpstr>触发器实验</vt:lpstr>
      <vt:lpstr>视图实验</vt:lpstr>
      <vt:lpstr>存储过程实验</vt:lpstr>
      <vt:lpstr>过程批量导入实验</vt:lpstr>
      <vt:lpstr>PowerPoint 演示文稿</vt:lpstr>
      <vt:lpstr>PowerPoint 演示文稿</vt:lpstr>
      <vt:lpstr>PowerPoint 演示文稿</vt:lpstr>
      <vt:lpstr>Checklist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文浩 李</dc:creator>
  <cp:lastModifiedBy>文浩 李</cp:lastModifiedBy>
  <cp:revision>55</cp:revision>
  <dcterms:created xsi:type="dcterms:W3CDTF">2026-06-01T10:05:41Z</dcterms:created>
  <dcterms:modified xsi:type="dcterms:W3CDTF">2026-06-15T08:22:43Z</dcterms:modified>
</cp:coreProperties>
</file>